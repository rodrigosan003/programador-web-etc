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Barlow Condensed Bold" charset="0"/>
      <p:regular r:id="rId9"/>
    </p:embeddedFont>
    <p:embeddedFont>
      <p:font typeface="Calibri" pitchFamily="34" charset="0"/>
      <p:regular r:id="rId10"/>
      <p:bold r:id="rId11"/>
      <p:italic r:id="rId12"/>
      <p:boldItalic r:id="rId13"/>
    </p:embeddedFont>
    <p:embeddedFont>
      <p:font typeface="Barlow Condensed"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8"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24.sv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2.svg"/><Relationship Id="rId5" Type="http://schemas.openxmlformats.org/officeDocument/2006/relationships/image" Target="../media/image16.svg"/><Relationship Id="rId15" Type="http://schemas.openxmlformats.org/officeDocument/2006/relationships/image" Target="../media/image26.svg"/><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20.sv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media/image34.svg"/></Relationships>
</file>

<file path=ppt/slides/_rels/slide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40.sv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DE5"/>
        </a:solidFill>
        <a:effectLst/>
      </p:bgPr>
    </p:bg>
    <p:spTree>
      <p:nvGrpSpPr>
        <p:cNvPr id="1" name=""/>
        <p:cNvGrpSpPr/>
        <p:nvPr/>
      </p:nvGrpSpPr>
      <p:grpSpPr>
        <a:xfrm>
          <a:off x="0" y="0"/>
          <a:ext cx="0" cy="0"/>
          <a:chOff x="0" y="0"/>
          <a:chExt cx="0" cy="0"/>
        </a:xfrm>
      </p:grpSpPr>
      <p:sp>
        <p:nvSpPr>
          <p:cNvPr id="2" name="Freeform 2"/>
          <p:cNvSpPr/>
          <p:nvPr/>
        </p:nvSpPr>
        <p:spPr>
          <a:xfrm rot="-258293" flipH="1">
            <a:off x="-936697" y="116371"/>
            <a:ext cx="3717229" cy="7666744"/>
          </a:xfrm>
          <a:custGeom>
            <a:avLst/>
            <a:gdLst/>
            <a:ahLst/>
            <a:cxnLst/>
            <a:rect l="l" t="t" r="r" b="b"/>
            <a:pathLst>
              <a:path w="4259814" h="7980917">
                <a:moveTo>
                  <a:pt x="4259814" y="0"/>
                </a:moveTo>
                <a:lnTo>
                  <a:pt x="0" y="0"/>
                </a:lnTo>
                <a:lnTo>
                  <a:pt x="0" y="7980917"/>
                </a:lnTo>
                <a:lnTo>
                  <a:pt x="4259814" y="7980917"/>
                </a:lnTo>
                <a:lnTo>
                  <a:pt x="4259814" y="0"/>
                </a:lnTo>
                <a:close/>
              </a:path>
            </a:pathLst>
          </a:custGeom>
          <a:blipFill>
            <a:blip r:embed="rId2" cstate="print">
              <a:extLst>
                <a:ext uri="{96DAC541-7B7A-43D3-8B79-37D633B846F1}">
                  <asvg:svgBlip xmlns="" xmlns:asvg="http://schemas.microsoft.com/office/drawing/2016/SVG/main" r:embed="rId3"/>
                </a:ext>
              </a:extLst>
            </a:blip>
            <a:stretch>
              <a:fillRect/>
            </a:stretch>
          </a:blipFill>
        </p:spPr>
      </p:sp>
      <p:sp>
        <p:nvSpPr>
          <p:cNvPr id="3" name="Freeform 3"/>
          <p:cNvSpPr/>
          <p:nvPr/>
        </p:nvSpPr>
        <p:spPr>
          <a:xfrm rot="-83669">
            <a:off x="-1530143" y="-1864376"/>
            <a:ext cx="6990818" cy="7141564"/>
          </a:xfrm>
          <a:custGeom>
            <a:avLst/>
            <a:gdLst/>
            <a:ahLst/>
            <a:cxnLst/>
            <a:rect l="l" t="t" r="r" b="b"/>
            <a:pathLst>
              <a:path w="6990818" h="7141564">
                <a:moveTo>
                  <a:pt x="0" y="0"/>
                </a:moveTo>
                <a:lnTo>
                  <a:pt x="6990818" y="0"/>
                </a:lnTo>
                <a:lnTo>
                  <a:pt x="6990818" y="7141563"/>
                </a:lnTo>
                <a:lnTo>
                  <a:pt x="0" y="7141563"/>
                </a:lnTo>
                <a:lnTo>
                  <a:pt x="0" y="0"/>
                </a:lnTo>
                <a:close/>
              </a:path>
            </a:pathLst>
          </a:custGeom>
          <a:blipFill>
            <a:blip r:embed="rId4" cstate="print">
              <a:extLst>
                <a:ext uri="{96DAC541-7B7A-43D3-8B79-37D633B846F1}">
                  <asvg:svgBlip xmlns="" xmlns:asvg="http://schemas.microsoft.com/office/drawing/2016/SVG/main" r:embed="rId5"/>
                </a:ext>
              </a:extLst>
            </a:blip>
            <a:stretch>
              <a:fillRect/>
            </a:stretch>
          </a:blipFill>
        </p:spPr>
      </p:sp>
      <p:sp>
        <p:nvSpPr>
          <p:cNvPr id="4" name="Freeform 4"/>
          <p:cNvSpPr/>
          <p:nvPr/>
        </p:nvSpPr>
        <p:spPr>
          <a:xfrm rot="-2179632">
            <a:off x="-802343" y="6258567"/>
            <a:ext cx="4582091" cy="5999465"/>
          </a:xfrm>
          <a:custGeom>
            <a:avLst/>
            <a:gdLst/>
            <a:ahLst/>
            <a:cxnLst/>
            <a:rect l="l" t="t" r="r" b="b"/>
            <a:pathLst>
              <a:path w="4582091" h="5999465">
                <a:moveTo>
                  <a:pt x="0" y="0"/>
                </a:moveTo>
                <a:lnTo>
                  <a:pt x="4582092" y="0"/>
                </a:lnTo>
                <a:lnTo>
                  <a:pt x="4582092" y="5999466"/>
                </a:lnTo>
                <a:lnTo>
                  <a:pt x="0" y="5999466"/>
                </a:lnTo>
                <a:lnTo>
                  <a:pt x="0" y="0"/>
                </a:lnTo>
                <a:close/>
              </a:path>
            </a:pathLst>
          </a:custGeom>
          <a:blipFill>
            <a:blip r:embed="rId6" cstate="print">
              <a:extLst>
                <a:ext uri="{96DAC541-7B7A-43D3-8B79-37D633B846F1}">
                  <asvg:svgBlip xmlns="" xmlns:asvg="http://schemas.microsoft.com/office/drawing/2016/SVG/main" r:embed="rId7"/>
                </a:ext>
              </a:extLst>
            </a:blip>
            <a:stretch>
              <a:fillRect/>
            </a:stretch>
          </a:blipFill>
        </p:spPr>
      </p:sp>
      <p:sp>
        <p:nvSpPr>
          <p:cNvPr id="5" name="Freeform 5"/>
          <p:cNvSpPr/>
          <p:nvPr/>
        </p:nvSpPr>
        <p:spPr>
          <a:xfrm rot="542989">
            <a:off x="12212574" y="1744628"/>
            <a:ext cx="3868828" cy="5940619"/>
          </a:xfrm>
          <a:custGeom>
            <a:avLst/>
            <a:gdLst/>
            <a:ahLst/>
            <a:cxnLst/>
            <a:rect l="l" t="t" r="r" b="b"/>
            <a:pathLst>
              <a:path w="3868828" h="5940619">
                <a:moveTo>
                  <a:pt x="0" y="0"/>
                </a:moveTo>
                <a:lnTo>
                  <a:pt x="3868828" y="0"/>
                </a:lnTo>
                <a:lnTo>
                  <a:pt x="3868828" y="5940619"/>
                </a:lnTo>
                <a:lnTo>
                  <a:pt x="0" y="5940619"/>
                </a:lnTo>
                <a:lnTo>
                  <a:pt x="0" y="0"/>
                </a:lnTo>
                <a:close/>
              </a:path>
            </a:pathLst>
          </a:custGeom>
          <a:blipFill>
            <a:blip r:embed="rId8" cstate="print">
              <a:extLst>
                <a:ext uri="{96DAC541-7B7A-43D3-8B79-37D633B846F1}">
                  <asvg:svgBlip xmlns="" xmlns:asvg="http://schemas.microsoft.com/office/drawing/2016/SVG/main" r:embed="rId9"/>
                </a:ext>
              </a:extLst>
            </a:blip>
            <a:stretch>
              <a:fillRect/>
            </a:stretch>
          </a:blipFill>
        </p:spPr>
      </p:sp>
      <p:sp>
        <p:nvSpPr>
          <p:cNvPr id="6" name="TextBox 6"/>
          <p:cNvSpPr txBox="1"/>
          <p:nvPr/>
        </p:nvSpPr>
        <p:spPr>
          <a:xfrm>
            <a:off x="3063036" y="1743973"/>
            <a:ext cx="11516843" cy="4079670"/>
          </a:xfrm>
          <a:prstGeom prst="rect">
            <a:avLst/>
          </a:prstGeom>
        </p:spPr>
        <p:txBody>
          <a:bodyPr lIns="0" tIns="0" rIns="0" bIns="0" rtlCol="0" anchor="t">
            <a:spAutoFit/>
          </a:bodyPr>
          <a:lstStyle/>
          <a:p>
            <a:pPr>
              <a:lnSpc>
                <a:spcPts val="15979"/>
              </a:lnSpc>
            </a:pPr>
            <a:r>
              <a:rPr lang="en-US" sz="14527">
                <a:solidFill>
                  <a:srgbClr val="353535"/>
                </a:solidFill>
                <a:latin typeface="Barlow Condensed Bold"/>
              </a:rPr>
              <a:t>INTEGRIDADE DOS DADOS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DE5"/>
        </a:solidFill>
        <a:effectLst/>
      </p:bgPr>
    </p:bg>
    <p:spTree>
      <p:nvGrpSpPr>
        <p:cNvPr id="1" name=""/>
        <p:cNvGrpSpPr/>
        <p:nvPr/>
      </p:nvGrpSpPr>
      <p:grpSpPr>
        <a:xfrm>
          <a:off x="0" y="0"/>
          <a:ext cx="0" cy="0"/>
          <a:chOff x="0" y="0"/>
          <a:chExt cx="0" cy="0"/>
        </a:xfrm>
      </p:grpSpPr>
      <p:grpSp>
        <p:nvGrpSpPr>
          <p:cNvPr id="2" name="Group 2"/>
          <p:cNvGrpSpPr/>
          <p:nvPr/>
        </p:nvGrpSpPr>
        <p:grpSpPr>
          <a:xfrm>
            <a:off x="6355383" y="1686836"/>
            <a:ext cx="10580216" cy="6913329"/>
            <a:chOff x="0" y="0"/>
            <a:chExt cx="1578752" cy="1031589"/>
          </a:xfrm>
        </p:grpSpPr>
        <p:sp>
          <p:nvSpPr>
            <p:cNvPr id="3" name="Freeform 3"/>
            <p:cNvSpPr/>
            <p:nvPr/>
          </p:nvSpPr>
          <p:spPr>
            <a:xfrm>
              <a:off x="0" y="0"/>
              <a:ext cx="1578752" cy="1031589"/>
            </a:xfrm>
            <a:custGeom>
              <a:avLst/>
              <a:gdLst/>
              <a:ahLst/>
              <a:cxnLst/>
              <a:rect l="l" t="t" r="r" b="b"/>
              <a:pathLst>
                <a:path w="1578752" h="1031589">
                  <a:moveTo>
                    <a:pt x="37319" y="0"/>
                  </a:moveTo>
                  <a:lnTo>
                    <a:pt x="1541434" y="0"/>
                  </a:lnTo>
                  <a:cubicBezTo>
                    <a:pt x="1562044" y="0"/>
                    <a:pt x="1578752" y="16708"/>
                    <a:pt x="1578752" y="37319"/>
                  </a:cubicBezTo>
                  <a:lnTo>
                    <a:pt x="1578752" y="994270"/>
                  </a:lnTo>
                  <a:cubicBezTo>
                    <a:pt x="1578752" y="1004168"/>
                    <a:pt x="1574820" y="1013660"/>
                    <a:pt x="1567822" y="1020658"/>
                  </a:cubicBezTo>
                  <a:cubicBezTo>
                    <a:pt x="1560823" y="1027657"/>
                    <a:pt x="1551331" y="1031589"/>
                    <a:pt x="1541434" y="1031589"/>
                  </a:cubicBezTo>
                  <a:lnTo>
                    <a:pt x="37319" y="1031589"/>
                  </a:lnTo>
                  <a:cubicBezTo>
                    <a:pt x="16708" y="1031589"/>
                    <a:pt x="0" y="1014881"/>
                    <a:pt x="0" y="994270"/>
                  </a:cubicBezTo>
                  <a:lnTo>
                    <a:pt x="0" y="37319"/>
                  </a:lnTo>
                  <a:cubicBezTo>
                    <a:pt x="0" y="27421"/>
                    <a:pt x="3932" y="17929"/>
                    <a:pt x="10930" y="10930"/>
                  </a:cubicBezTo>
                  <a:cubicBezTo>
                    <a:pt x="17929" y="3932"/>
                    <a:pt x="27421" y="0"/>
                    <a:pt x="37319" y="0"/>
                  </a:cubicBezTo>
                  <a:close/>
                </a:path>
              </a:pathLst>
            </a:custGeom>
            <a:solidFill>
              <a:srgbClr val="FFDE59"/>
            </a:solidFill>
            <a:ln>
              <a:no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grpSp>
        <p:nvGrpSpPr>
          <p:cNvPr id="5" name="Group 5"/>
          <p:cNvGrpSpPr/>
          <p:nvPr/>
        </p:nvGrpSpPr>
        <p:grpSpPr>
          <a:xfrm>
            <a:off x="7806979" y="8234036"/>
            <a:ext cx="10481021" cy="628119"/>
            <a:chOff x="0" y="0"/>
            <a:chExt cx="1563951" cy="93726"/>
          </a:xfrm>
        </p:grpSpPr>
        <p:sp>
          <p:nvSpPr>
            <p:cNvPr id="6" name="Freeform 6"/>
            <p:cNvSpPr/>
            <p:nvPr/>
          </p:nvSpPr>
          <p:spPr>
            <a:xfrm>
              <a:off x="0" y="0"/>
              <a:ext cx="1563951" cy="93726"/>
            </a:xfrm>
            <a:custGeom>
              <a:avLst/>
              <a:gdLst/>
              <a:ahLst/>
              <a:cxnLst/>
              <a:rect l="l" t="t" r="r" b="b"/>
              <a:pathLst>
                <a:path w="1563951" h="93726">
                  <a:moveTo>
                    <a:pt x="15512" y="0"/>
                  </a:moveTo>
                  <a:lnTo>
                    <a:pt x="1548439" y="0"/>
                  </a:lnTo>
                  <a:cubicBezTo>
                    <a:pt x="1552553" y="0"/>
                    <a:pt x="1556498" y="1634"/>
                    <a:pt x="1559407" y="4543"/>
                  </a:cubicBezTo>
                  <a:cubicBezTo>
                    <a:pt x="1562316" y="7452"/>
                    <a:pt x="1563951" y="11398"/>
                    <a:pt x="1563951" y="15512"/>
                  </a:cubicBezTo>
                  <a:lnTo>
                    <a:pt x="1563951" y="78214"/>
                  </a:lnTo>
                  <a:cubicBezTo>
                    <a:pt x="1563951" y="82328"/>
                    <a:pt x="1562316" y="86274"/>
                    <a:pt x="1559407" y="89183"/>
                  </a:cubicBezTo>
                  <a:cubicBezTo>
                    <a:pt x="1556498" y="92092"/>
                    <a:pt x="1552553" y="93726"/>
                    <a:pt x="1548439" y="93726"/>
                  </a:cubicBezTo>
                  <a:lnTo>
                    <a:pt x="15512" y="93726"/>
                  </a:lnTo>
                  <a:cubicBezTo>
                    <a:pt x="11398" y="93726"/>
                    <a:pt x="7452" y="92092"/>
                    <a:pt x="4543" y="89183"/>
                  </a:cubicBezTo>
                  <a:cubicBezTo>
                    <a:pt x="1634" y="86274"/>
                    <a:pt x="0" y="82328"/>
                    <a:pt x="0" y="78214"/>
                  </a:cubicBezTo>
                  <a:lnTo>
                    <a:pt x="0" y="15512"/>
                  </a:lnTo>
                  <a:cubicBezTo>
                    <a:pt x="0" y="11398"/>
                    <a:pt x="1634" y="7452"/>
                    <a:pt x="4543" y="4543"/>
                  </a:cubicBezTo>
                  <a:cubicBezTo>
                    <a:pt x="7452" y="1634"/>
                    <a:pt x="11398" y="0"/>
                    <a:pt x="15512" y="0"/>
                  </a:cubicBezTo>
                  <a:close/>
                </a:path>
              </a:pathLst>
            </a:custGeom>
            <a:solidFill>
              <a:srgbClr val="50E2E3"/>
            </a:solidFill>
            <a:ln>
              <a:noFill/>
            </a:ln>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sp>
        <p:nvSpPr>
          <p:cNvPr id="8" name="AutoShape 8"/>
          <p:cNvSpPr/>
          <p:nvPr/>
        </p:nvSpPr>
        <p:spPr>
          <a:xfrm>
            <a:off x="6861132" y="3994236"/>
            <a:ext cx="4565736" cy="0"/>
          </a:xfrm>
          <a:prstGeom prst="line">
            <a:avLst/>
          </a:prstGeom>
          <a:ln w="57150" cap="rnd">
            <a:solidFill>
              <a:srgbClr val="FF6557"/>
            </a:solidFill>
            <a:prstDash val="sysDot"/>
            <a:headEnd type="none" w="sm" len="sm"/>
            <a:tailEnd type="none" w="sm" len="sm"/>
          </a:ln>
        </p:spPr>
      </p:sp>
      <p:sp>
        <p:nvSpPr>
          <p:cNvPr id="9" name="Freeform 9"/>
          <p:cNvSpPr/>
          <p:nvPr/>
        </p:nvSpPr>
        <p:spPr>
          <a:xfrm>
            <a:off x="421787" y="1028700"/>
            <a:ext cx="3693390" cy="3565800"/>
          </a:xfrm>
          <a:custGeom>
            <a:avLst/>
            <a:gdLst/>
            <a:ahLst/>
            <a:cxnLst/>
            <a:rect l="l" t="t" r="r" b="b"/>
            <a:pathLst>
              <a:path w="3693390" h="3565800">
                <a:moveTo>
                  <a:pt x="0" y="0"/>
                </a:moveTo>
                <a:lnTo>
                  <a:pt x="3693390" y="0"/>
                </a:lnTo>
                <a:lnTo>
                  <a:pt x="3693390" y="3565800"/>
                </a:lnTo>
                <a:lnTo>
                  <a:pt x="0" y="3565800"/>
                </a:lnTo>
                <a:lnTo>
                  <a:pt x="0" y="0"/>
                </a:lnTo>
                <a:close/>
              </a:path>
            </a:pathLst>
          </a:custGeom>
          <a:blipFill>
            <a:blip r:embed="rId2" cstate="print">
              <a:extLst>
                <a:ext uri="{96DAC541-7B7A-43D3-8B79-37D633B846F1}">
                  <asvg:svgBlip xmlns="" xmlns:asvg="http://schemas.microsoft.com/office/drawing/2016/SVG/main" r:embed="rId3"/>
                </a:ext>
              </a:extLst>
            </a:blip>
            <a:stretch>
              <a:fillRect/>
            </a:stretch>
          </a:blipFill>
        </p:spPr>
      </p:sp>
      <p:sp>
        <p:nvSpPr>
          <p:cNvPr id="10" name="Freeform 10"/>
          <p:cNvSpPr/>
          <p:nvPr/>
        </p:nvSpPr>
        <p:spPr>
          <a:xfrm>
            <a:off x="3327792" y="4594500"/>
            <a:ext cx="2287219" cy="3045933"/>
          </a:xfrm>
          <a:custGeom>
            <a:avLst/>
            <a:gdLst/>
            <a:ahLst/>
            <a:cxnLst/>
            <a:rect l="l" t="t" r="r" b="b"/>
            <a:pathLst>
              <a:path w="2287219" h="3045933">
                <a:moveTo>
                  <a:pt x="0" y="0"/>
                </a:moveTo>
                <a:lnTo>
                  <a:pt x="2287219" y="0"/>
                </a:lnTo>
                <a:lnTo>
                  <a:pt x="2287219" y="3045933"/>
                </a:lnTo>
                <a:lnTo>
                  <a:pt x="0" y="3045933"/>
                </a:lnTo>
                <a:lnTo>
                  <a:pt x="0" y="0"/>
                </a:lnTo>
                <a:close/>
              </a:path>
            </a:pathLst>
          </a:custGeom>
          <a:blipFill>
            <a:blip r:embed="rId4" cstate="print">
              <a:extLst>
                <a:ext uri="{96DAC541-7B7A-43D3-8B79-37D633B846F1}">
                  <asvg:svgBlip xmlns="" xmlns:asvg="http://schemas.microsoft.com/office/drawing/2016/SVG/main" r:embed="rId5"/>
                </a:ext>
              </a:extLst>
            </a:blip>
            <a:stretch>
              <a:fillRect/>
            </a:stretch>
          </a:blipFill>
        </p:spPr>
      </p:sp>
      <p:sp>
        <p:nvSpPr>
          <p:cNvPr id="11" name="TextBox 11"/>
          <p:cNvSpPr txBox="1"/>
          <p:nvPr/>
        </p:nvSpPr>
        <p:spPr>
          <a:xfrm>
            <a:off x="6812887" y="4244587"/>
            <a:ext cx="9887300" cy="4304774"/>
          </a:xfrm>
          <a:prstGeom prst="rect">
            <a:avLst/>
          </a:prstGeom>
        </p:spPr>
        <p:txBody>
          <a:bodyPr lIns="0" tIns="0" rIns="0" bIns="0" rtlCol="0" anchor="t">
            <a:spAutoFit/>
          </a:bodyPr>
          <a:lstStyle/>
          <a:p>
            <a:pPr algn="just">
              <a:lnSpc>
                <a:spcPts val="5705"/>
              </a:lnSpc>
            </a:pPr>
            <a:r>
              <a:rPr lang="en-US" sz="3375">
                <a:solidFill>
                  <a:srgbClr val="353535"/>
                </a:solidFill>
                <a:latin typeface="Barlow Condensed"/>
              </a:rPr>
              <a:t>Para garantir que os dados sejam mantidos de forma consistente, as operações executadas sobre os dados precisam seguir algumas regras, o que muitas vezes chama-se de transação, pois para garantir que os dados continuem a serem úteis os comandos precisam ser entendidos como únicos pelo sistema.</a:t>
            </a:r>
          </a:p>
          <a:p>
            <a:pPr marL="0" lvl="0" indent="0" algn="just">
              <a:lnSpc>
                <a:spcPts val="5705"/>
              </a:lnSpc>
            </a:pPr>
            <a:endParaRPr lang="en-US" sz="3375">
              <a:solidFill>
                <a:srgbClr val="353535"/>
              </a:solidFill>
              <a:latin typeface="Barlow Condensed"/>
            </a:endParaRPr>
          </a:p>
        </p:txBody>
      </p:sp>
      <p:sp>
        <p:nvSpPr>
          <p:cNvPr id="12" name="TextBox 12"/>
          <p:cNvSpPr txBox="1"/>
          <p:nvPr/>
        </p:nvSpPr>
        <p:spPr>
          <a:xfrm>
            <a:off x="7188299" y="2234500"/>
            <a:ext cx="8477138" cy="894664"/>
          </a:xfrm>
          <a:prstGeom prst="rect">
            <a:avLst/>
          </a:prstGeom>
        </p:spPr>
        <p:txBody>
          <a:bodyPr lIns="0" tIns="0" rIns="0" bIns="0" rtlCol="0" anchor="t">
            <a:spAutoFit/>
          </a:bodyPr>
          <a:lstStyle/>
          <a:p>
            <a:pPr marL="0" lvl="0" indent="0">
              <a:lnSpc>
                <a:spcPts val="6899"/>
              </a:lnSpc>
              <a:spcBef>
                <a:spcPct val="0"/>
              </a:spcBef>
            </a:pPr>
            <a:r>
              <a:rPr lang="en-US" sz="6271">
                <a:solidFill>
                  <a:srgbClr val="353535"/>
                </a:solidFill>
                <a:latin typeface="Barlow Condensed Bold"/>
              </a:rPr>
              <a:t>CONCEITO</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DE5"/>
        </a:solidFill>
        <a:effectLst/>
      </p:bgPr>
    </p:bg>
    <p:spTree>
      <p:nvGrpSpPr>
        <p:cNvPr id="1" name=""/>
        <p:cNvGrpSpPr/>
        <p:nvPr/>
      </p:nvGrpSpPr>
      <p:grpSpPr>
        <a:xfrm>
          <a:off x="0" y="0"/>
          <a:ext cx="0" cy="0"/>
          <a:chOff x="0" y="0"/>
          <a:chExt cx="0" cy="0"/>
        </a:xfrm>
      </p:grpSpPr>
      <p:sp>
        <p:nvSpPr>
          <p:cNvPr id="2" name="Freeform 2"/>
          <p:cNvSpPr/>
          <p:nvPr/>
        </p:nvSpPr>
        <p:spPr>
          <a:xfrm>
            <a:off x="2805392" y="1207966"/>
            <a:ext cx="2705140" cy="2861206"/>
          </a:xfrm>
          <a:custGeom>
            <a:avLst/>
            <a:gdLst/>
            <a:ahLst/>
            <a:cxnLst/>
            <a:rect l="l" t="t" r="r" b="b"/>
            <a:pathLst>
              <a:path w="2705140" h="2861206">
                <a:moveTo>
                  <a:pt x="0" y="0"/>
                </a:moveTo>
                <a:lnTo>
                  <a:pt x="2705141" y="0"/>
                </a:lnTo>
                <a:lnTo>
                  <a:pt x="2705141" y="2861206"/>
                </a:lnTo>
                <a:lnTo>
                  <a:pt x="0" y="2861206"/>
                </a:lnTo>
                <a:lnTo>
                  <a:pt x="0" y="0"/>
                </a:lnTo>
                <a:close/>
              </a:path>
            </a:pathLst>
          </a:custGeom>
          <a:blipFill>
            <a:blip r:embed="rId2" cstate="print">
              <a:extLst>
                <a:ext uri="{96DAC541-7B7A-43D3-8B79-37D633B846F1}">
                  <asvg:svgBlip xmlns="" xmlns:asvg="http://schemas.microsoft.com/office/drawing/2016/SVG/main" r:embed="rId3"/>
                </a:ext>
              </a:extLst>
            </a:blip>
            <a:stretch>
              <a:fillRect/>
            </a:stretch>
          </a:blipFill>
        </p:spPr>
      </p:sp>
      <p:sp>
        <p:nvSpPr>
          <p:cNvPr id="3" name="Freeform 3"/>
          <p:cNvSpPr/>
          <p:nvPr/>
        </p:nvSpPr>
        <p:spPr>
          <a:xfrm rot="-1808374">
            <a:off x="-2671496" y="3985109"/>
            <a:ext cx="5298732" cy="5332057"/>
          </a:xfrm>
          <a:custGeom>
            <a:avLst/>
            <a:gdLst/>
            <a:ahLst/>
            <a:cxnLst/>
            <a:rect l="l" t="t" r="r" b="b"/>
            <a:pathLst>
              <a:path w="5298732" h="5332057">
                <a:moveTo>
                  <a:pt x="0" y="0"/>
                </a:moveTo>
                <a:lnTo>
                  <a:pt x="5298732" y="0"/>
                </a:lnTo>
                <a:lnTo>
                  <a:pt x="5298732" y="5332057"/>
                </a:lnTo>
                <a:lnTo>
                  <a:pt x="0" y="5332057"/>
                </a:lnTo>
                <a:lnTo>
                  <a:pt x="0" y="0"/>
                </a:lnTo>
                <a:close/>
              </a:path>
            </a:pathLst>
          </a:custGeom>
          <a:blipFill>
            <a:blip r:embed="rId4" cstate="print">
              <a:extLst>
                <a:ext uri="{96DAC541-7B7A-43D3-8B79-37D633B846F1}">
                  <asvg:svgBlip xmlns="" xmlns:asvg="http://schemas.microsoft.com/office/drawing/2016/SVG/main" r:embed="rId5"/>
                </a:ext>
              </a:extLst>
            </a:blip>
            <a:stretch>
              <a:fillRect/>
            </a:stretch>
          </a:blipFill>
        </p:spPr>
      </p:sp>
      <p:sp>
        <p:nvSpPr>
          <p:cNvPr id="4" name="Freeform 4"/>
          <p:cNvSpPr/>
          <p:nvPr/>
        </p:nvSpPr>
        <p:spPr>
          <a:xfrm rot="4243407">
            <a:off x="16172671" y="3985109"/>
            <a:ext cx="5298732" cy="5332057"/>
          </a:xfrm>
          <a:custGeom>
            <a:avLst/>
            <a:gdLst/>
            <a:ahLst/>
            <a:cxnLst/>
            <a:rect l="l" t="t" r="r" b="b"/>
            <a:pathLst>
              <a:path w="5298732" h="5332057">
                <a:moveTo>
                  <a:pt x="0" y="0"/>
                </a:moveTo>
                <a:lnTo>
                  <a:pt x="5298732" y="0"/>
                </a:lnTo>
                <a:lnTo>
                  <a:pt x="5298732" y="5332057"/>
                </a:lnTo>
                <a:lnTo>
                  <a:pt x="0" y="5332057"/>
                </a:lnTo>
                <a:lnTo>
                  <a:pt x="0" y="0"/>
                </a:lnTo>
                <a:close/>
              </a:path>
            </a:pathLst>
          </a:custGeom>
          <a:blipFill>
            <a:blip r:embed="rId4" cstate="print">
              <a:extLst>
                <a:ext uri="{96DAC541-7B7A-43D3-8B79-37D633B846F1}">
                  <asvg:svgBlip xmlns="" xmlns:asvg="http://schemas.microsoft.com/office/drawing/2016/SVG/main" r:embed="rId5"/>
                </a:ext>
              </a:extLst>
            </a:blip>
            <a:stretch>
              <a:fillRect/>
            </a:stretch>
          </a:blipFill>
        </p:spPr>
      </p:sp>
      <p:sp>
        <p:nvSpPr>
          <p:cNvPr id="5" name="Freeform 5"/>
          <p:cNvSpPr/>
          <p:nvPr/>
        </p:nvSpPr>
        <p:spPr>
          <a:xfrm>
            <a:off x="2839660" y="6397094"/>
            <a:ext cx="2705140" cy="2861206"/>
          </a:xfrm>
          <a:custGeom>
            <a:avLst/>
            <a:gdLst/>
            <a:ahLst/>
            <a:cxnLst/>
            <a:rect l="l" t="t" r="r" b="b"/>
            <a:pathLst>
              <a:path w="2705140" h="2861206">
                <a:moveTo>
                  <a:pt x="0" y="0"/>
                </a:moveTo>
                <a:lnTo>
                  <a:pt x="2705140" y="0"/>
                </a:lnTo>
                <a:lnTo>
                  <a:pt x="2705140" y="2861206"/>
                </a:lnTo>
                <a:lnTo>
                  <a:pt x="0" y="2861206"/>
                </a:lnTo>
                <a:lnTo>
                  <a:pt x="0" y="0"/>
                </a:lnTo>
                <a:close/>
              </a:path>
            </a:pathLst>
          </a:custGeom>
          <a:blipFill>
            <a:blip r:embed="rId6" cstate="print">
              <a:extLst>
                <a:ext uri="{96DAC541-7B7A-43D3-8B79-37D633B846F1}">
                  <asvg:svgBlip xmlns="" xmlns:asvg="http://schemas.microsoft.com/office/drawing/2016/SVG/main" r:embed="rId7"/>
                </a:ext>
              </a:extLst>
            </a:blip>
            <a:stretch>
              <a:fillRect/>
            </a:stretch>
          </a:blipFill>
        </p:spPr>
      </p:sp>
      <p:sp>
        <p:nvSpPr>
          <p:cNvPr id="6" name="Freeform 6"/>
          <p:cNvSpPr/>
          <p:nvPr/>
        </p:nvSpPr>
        <p:spPr>
          <a:xfrm rot="-7363757">
            <a:off x="-3167294" y="-124689"/>
            <a:ext cx="5298732" cy="5332057"/>
          </a:xfrm>
          <a:custGeom>
            <a:avLst/>
            <a:gdLst/>
            <a:ahLst/>
            <a:cxnLst/>
            <a:rect l="l" t="t" r="r" b="b"/>
            <a:pathLst>
              <a:path w="5298732" h="5332057">
                <a:moveTo>
                  <a:pt x="0" y="0"/>
                </a:moveTo>
                <a:lnTo>
                  <a:pt x="5298731" y="0"/>
                </a:lnTo>
                <a:lnTo>
                  <a:pt x="5298731" y="5332057"/>
                </a:lnTo>
                <a:lnTo>
                  <a:pt x="0" y="5332057"/>
                </a:lnTo>
                <a:lnTo>
                  <a:pt x="0" y="0"/>
                </a:lnTo>
                <a:close/>
              </a:path>
            </a:pathLst>
          </a:custGeom>
          <a:blipFill>
            <a:blip r:embed="rId8" cstate="print">
              <a:extLst>
                <a:ext uri="{96DAC541-7B7A-43D3-8B79-37D633B846F1}">
                  <asvg:svgBlip xmlns="" xmlns:asvg="http://schemas.microsoft.com/office/drawing/2016/SVG/main" r:embed="rId9"/>
                </a:ext>
              </a:extLst>
            </a:blip>
            <a:stretch>
              <a:fillRect/>
            </a:stretch>
          </a:blipFill>
        </p:spPr>
      </p:sp>
      <p:sp>
        <p:nvSpPr>
          <p:cNvPr id="7" name="Freeform 7"/>
          <p:cNvSpPr/>
          <p:nvPr/>
        </p:nvSpPr>
        <p:spPr>
          <a:xfrm rot="9510629">
            <a:off x="15920463" y="-124689"/>
            <a:ext cx="5298732" cy="5332057"/>
          </a:xfrm>
          <a:custGeom>
            <a:avLst/>
            <a:gdLst/>
            <a:ahLst/>
            <a:cxnLst/>
            <a:rect l="l" t="t" r="r" b="b"/>
            <a:pathLst>
              <a:path w="5298732" h="5332057">
                <a:moveTo>
                  <a:pt x="0" y="0"/>
                </a:moveTo>
                <a:lnTo>
                  <a:pt x="5298731" y="0"/>
                </a:lnTo>
                <a:lnTo>
                  <a:pt x="5298731" y="5332057"/>
                </a:lnTo>
                <a:lnTo>
                  <a:pt x="0" y="5332057"/>
                </a:lnTo>
                <a:lnTo>
                  <a:pt x="0" y="0"/>
                </a:lnTo>
                <a:close/>
              </a:path>
            </a:pathLst>
          </a:custGeom>
          <a:blipFill>
            <a:blip r:embed="rId8" cstate="print">
              <a:extLst>
                <a:ext uri="{96DAC541-7B7A-43D3-8B79-37D633B846F1}">
                  <asvg:svgBlip xmlns="" xmlns:asvg="http://schemas.microsoft.com/office/drawing/2016/SVG/main" r:embed="rId9"/>
                </a:ext>
              </a:extLst>
            </a:blip>
            <a:stretch>
              <a:fillRect/>
            </a:stretch>
          </a:blipFill>
        </p:spPr>
      </p:sp>
      <p:sp>
        <p:nvSpPr>
          <p:cNvPr id="8" name="Freeform 8"/>
          <p:cNvSpPr/>
          <p:nvPr/>
        </p:nvSpPr>
        <p:spPr>
          <a:xfrm>
            <a:off x="12770930" y="1207966"/>
            <a:ext cx="2705140" cy="2861206"/>
          </a:xfrm>
          <a:custGeom>
            <a:avLst/>
            <a:gdLst/>
            <a:ahLst/>
            <a:cxnLst/>
            <a:rect l="l" t="t" r="r" b="b"/>
            <a:pathLst>
              <a:path w="2705140" h="2861206">
                <a:moveTo>
                  <a:pt x="0" y="0"/>
                </a:moveTo>
                <a:lnTo>
                  <a:pt x="2705140" y="0"/>
                </a:lnTo>
                <a:lnTo>
                  <a:pt x="2705140" y="2861206"/>
                </a:lnTo>
                <a:lnTo>
                  <a:pt x="0" y="2861206"/>
                </a:lnTo>
                <a:lnTo>
                  <a:pt x="0" y="0"/>
                </a:lnTo>
                <a:close/>
              </a:path>
            </a:pathLst>
          </a:custGeom>
          <a:blipFill>
            <a:blip r:embed="rId10" cstate="print">
              <a:extLst>
                <a:ext uri="{96DAC541-7B7A-43D3-8B79-37D633B846F1}">
                  <asvg:svgBlip xmlns="" xmlns:asvg="http://schemas.microsoft.com/office/drawing/2016/SVG/main" r:embed="rId11"/>
                </a:ext>
              </a:extLst>
            </a:blip>
            <a:stretch>
              <a:fillRect/>
            </a:stretch>
          </a:blipFill>
        </p:spPr>
      </p:sp>
      <p:sp>
        <p:nvSpPr>
          <p:cNvPr id="9" name="Freeform 9"/>
          <p:cNvSpPr/>
          <p:nvPr/>
        </p:nvSpPr>
        <p:spPr>
          <a:xfrm>
            <a:off x="12777237" y="6397094"/>
            <a:ext cx="2705140" cy="2861206"/>
          </a:xfrm>
          <a:custGeom>
            <a:avLst/>
            <a:gdLst/>
            <a:ahLst/>
            <a:cxnLst/>
            <a:rect l="l" t="t" r="r" b="b"/>
            <a:pathLst>
              <a:path w="2705140" h="2861206">
                <a:moveTo>
                  <a:pt x="0" y="0"/>
                </a:moveTo>
                <a:lnTo>
                  <a:pt x="2705140" y="0"/>
                </a:lnTo>
                <a:lnTo>
                  <a:pt x="2705140" y="2861206"/>
                </a:lnTo>
                <a:lnTo>
                  <a:pt x="0" y="2861206"/>
                </a:lnTo>
                <a:lnTo>
                  <a:pt x="0" y="0"/>
                </a:lnTo>
                <a:close/>
              </a:path>
            </a:pathLst>
          </a:custGeom>
          <a:blipFill>
            <a:blip r:embed="rId12" cstate="print">
              <a:extLst>
                <a:ext uri="{96DAC541-7B7A-43D3-8B79-37D633B846F1}">
                  <asvg:svgBlip xmlns="" xmlns:asvg="http://schemas.microsoft.com/office/drawing/2016/SVG/main" r:embed="rId13"/>
                </a:ext>
              </a:extLst>
            </a:blip>
            <a:stretch>
              <a:fillRect/>
            </a:stretch>
          </a:blipFill>
        </p:spPr>
      </p:sp>
      <p:sp>
        <p:nvSpPr>
          <p:cNvPr id="10" name="Freeform 10"/>
          <p:cNvSpPr/>
          <p:nvPr/>
        </p:nvSpPr>
        <p:spPr>
          <a:xfrm>
            <a:off x="12751880" y="3389161"/>
            <a:ext cx="1632470" cy="1454382"/>
          </a:xfrm>
          <a:custGeom>
            <a:avLst/>
            <a:gdLst/>
            <a:ahLst/>
            <a:cxnLst/>
            <a:rect l="l" t="t" r="r" b="b"/>
            <a:pathLst>
              <a:path w="1632470" h="1454382">
                <a:moveTo>
                  <a:pt x="0" y="0"/>
                </a:moveTo>
                <a:lnTo>
                  <a:pt x="1632470" y="0"/>
                </a:lnTo>
                <a:lnTo>
                  <a:pt x="1632470" y="1454382"/>
                </a:lnTo>
                <a:lnTo>
                  <a:pt x="0" y="1454382"/>
                </a:lnTo>
                <a:lnTo>
                  <a:pt x="0" y="0"/>
                </a:lnTo>
                <a:close/>
              </a:path>
            </a:pathLst>
          </a:custGeom>
          <a:blipFill>
            <a:blip r:embed="rId14" cstate="print">
              <a:extLst>
                <a:ext uri="{96DAC541-7B7A-43D3-8B79-37D633B846F1}">
                  <asvg:svgBlip xmlns="" xmlns:asvg="http://schemas.microsoft.com/office/drawing/2016/SVG/main" r:embed="rId15"/>
                </a:ext>
              </a:extLst>
            </a:blip>
            <a:stretch>
              <a:fillRect/>
            </a:stretch>
          </a:blipFill>
        </p:spPr>
      </p:sp>
      <p:sp>
        <p:nvSpPr>
          <p:cNvPr id="11" name="Freeform 11"/>
          <p:cNvSpPr/>
          <p:nvPr/>
        </p:nvSpPr>
        <p:spPr>
          <a:xfrm flipH="1">
            <a:off x="3878063" y="3389161"/>
            <a:ext cx="1632470" cy="1454382"/>
          </a:xfrm>
          <a:custGeom>
            <a:avLst/>
            <a:gdLst/>
            <a:ahLst/>
            <a:cxnLst/>
            <a:rect l="l" t="t" r="r" b="b"/>
            <a:pathLst>
              <a:path w="1632470" h="1454382">
                <a:moveTo>
                  <a:pt x="1632470" y="0"/>
                </a:moveTo>
                <a:lnTo>
                  <a:pt x="0" y="0"/>
                </a:lnTo>
                <a:lnTo>
                  <a:pt x="0" y="1454382"/>
                </a:lnTo>
                <a:lnTo>
                  <a:pt x="1632470" y="1454382"/>
                </a:lnTo>
                <a:lnTo>
                  <a:pt x="1632470" y="0"/>
                </a:lnTo>
                <a:close/>
              </a:path>
            </a:pathLst>
          </a:custGeom>
          <a:blipFill>
            <a:blip r:embed="rId14" cstate="print">
              <a:extLst>
                <a:ext uri="{96DAC541-7B7A-43D3-8B79-37D633B846F1}">
                  <asvg:svgBlip xmlns="" xmlns:asvg="http://schemas.microsoft.com/office/drawing/2016/SVG/main" r:embed="rId15"/>
                </a:ext>
              </a:extLst>
            </a:blip>
            <a:stretch>
              <a:fillRect/>
            </a:stretch>
          </a:blipFill>
        </p:spPr>
      </p:sp>
      <p:sp>
        <p:nvSpPr>
          <p:cNvPr id="12" name="Freeform 12"/>
          <p:cNvSpPr/>
          <p:nvPr/>
        </p:nvSpPr>
        <p:spPr>
          <a:xfrm flipV="1">
            <a:off x="12751880" y="5437166"/>
            <a:ext cx="1632470" cy="1454382"/>
          </a:xfrm>
          <a:custGeom>
            <a:avLst/>
            <a:gdLst/>
            <a:ahLst/>
            <a:cxnLst/>
            <a:rect l="l" t="t" r="r" b="b"/>
            <a:pathLst>
              <a:path w="1632470" h="1454382">
                <a:moveTo>
                  <a:pt x="0" y="1454382"/>
                </a:moveTo>
                <a:lnTo>
                  <a:pt x="1632470" y="1454382"/>
                </a:lnTo>
                <a:lnTo>
                  <a:pt x="1632470" y="0"/>
                </a:lnTo>
                <a:lnTo>
                  <a:pt x="0" y="0"/>
                </a:lnTo>
                <a:lnTo>
                  <a:pt x="0" y="1454382"/>
                </a:lnTo>
                <a:close/>
              </a:path>
            </a:pathLst>
          </a:custGeom>
          <a:blipFill>
            <a:blip r:embed="rId14" cstate="print">
              <a:extLst>
                <a:ext uri="{96DAC541-7B7A-43D3-8B79-37D633B846F1}">
                  <asvg:svgBlip xmlns="" xmlns:asvg="http://schemas.microsoft.com/office/drawing/2016/SVG/main" r:embed="rId15"/>
                </a:ext>
              </a:extLst>
            </a:blip>
            <a:stretch>
              <a:fillRect/>
            </a:stretch>
          </a:blipFill>
        </p:spPr>
      </p:sp>
      <p:sp>
        <p:nvSpPr>
          <p:cNvPr id="13" name="Freeform 13"/>
          <p:cNvSpPr/>
          <p:nvPr/>
        </p:nvSpPr>
        <p:spPr>
          <a:xfrm flipH="1" flipV="1">
            <a:off x="3878063" y="5437166"/>
            <a:ext cx="1632470" cy="1454382"/>
          </a:xfrm>
          <a:custGeom>
            <a:avLst/>
            <a:gdLst/>
            <a:ahLst/>
            <a:cxnLst/>
            <a:rect l="l" t="t" r="r" b="b"/>
            <a:pathLst>
              <a:path w="1632470" h="1454382">
                <a:moveTo>
                  <a:pt x="1632470" y="1454382"/>
                </a:moveTo>
                <a:lnTo>
                  <a:pt x="0" y="1454382"/>
                </a:lnTo>
                <a:lnTo>
                  <a:pt x="0" y="0"/>
                </a:lnTo>
                <a:lnTo>
                  <a:pt x="1632470" y="0"/>
                </a:lnTo>
                <a:lnTo>
                  <a:pt x="1632470" y="1454382"/>
                </a:lnTo>
                <a:close/>
              </a:path>
            </a:pathLst>
          </a:custGeom>
          <a:blipFill>
            <a:blip r:embed="rId14" cstate="print">
              <a:extLst>
                <a:ext uri="{96DAC541-7B7A-43D3-8B79-37D633B846F1}">
                  <asvg:svgBlip xmlns="" xmlns:asvg="http://schemas.microsoft.com/office/drawing/2016/SVG/main" r:embed="rId15"/>
                </a:ext>
              </a:extLst>
            </a:blip>
            <a:stretch>
              <a:fillRect/>
            </a:stretch>
          </a:blipFill>
        </p:spPr>
      </p:sp>
      <p:sp>
        <p:nvSpPr>
          <p:cNvPr id="14" name="TextBox 14"/>
          <p:cNvSpPr txBox="1"/>
          <p:nvPr/>
        </p:nvSpPr>
        <p:spPr>
          <a:xfrm>
            <a:off x="3607689" y="4565762"/>
            <a:ext cx="11072622" cy="1222151"/>
          </a:xfrm>
          <a:prstGeom prst="rect">
            <a:avLst/>
          </a:prstGeom>
        </p:spPr>
        <p:txBody>
          <a:bodyPr lIns="0" tIns="0" rIns="0" bIns="0" rtlCol="0" anchor="t">
            <a:spAutoFit/>
          </a:bodyPr>
          <a:lstStyle/>
          <a:p>
            <a:pPr marL="0" lvl="0" indent="0" algn="ctr">
              <a:lnSpc>
                <a:spcPts val="9330"/>
              </a:lnSpc>
              <a:spcBef>
                <a:spcPct val="0"/>
              </a:spcBef>
            </a:pPr>
            <a:r>
              <a:rPr lang="en-US" sz="8482">
                <a:solidFill>
                  <a:srgbClr val="353535"/>
                </a:solidFill>
                <a:latin typeface="Barlow Condensed Bold"/>
              </a:rPr>
              <a:t>ACID</a:t>
            </a:r>
          </a:p>
        </p:txBody>
      </p:sp>
      <p:sp>
        <p:nvSpPr>
          <p:cNvPr id="15" name="TextBox 15"/>
          <p:cNvSpPr txBox="1"/>
          <p:nvPr/>
        </p:nvSpPr>
        <p:spPr>
          <a:xfrm>
            <a:off x="6008399" y="5983862"/>
            <a:ext cx="6654705" cy="1843835"/>
          </a:xfrm>
          <a:prstGeom prst="rect">
            <a:avLst/>
          </a:prstGeom>
        </p:spPr>
        <p:txBody>
          <a:bodyPr lIns="0" tIns="0" rIns="0" bIns="0" rtlCol="0" anchor="t">
            <a:spAutoFit/>
          </a:bodyPr>
          <a:lstStyle/>
          <a:p>
            <a:pPr marL="0" lvl="0" indent="0" algn="ctr">
              <a:lnSpc>
                <a:spcPts val="4991"/>
              </a:lnSpc>
            </a:pPr>
            <a:r>
              <a:rPr lang="en-US" sz="3565">
                <a:solidFill>
                  <a:srgbClr val="353535"/>
                </a:solidFill>
                <a:latin typeface="Barlow Condensed"/>
              </a:rPr>
              <a:t>A integridade de uma transação depende de quatro propriedades conhecidas como ACID:</a:t>
            </a:r>
          </a:p>
        </p:txBody>
      </p:sp>
      <p:sp>
        <p:nvSpPr>
          <p:cNvPr id="16" name="TextBox 16"/>
          <p:cNvSpPr txBox="1"/>
          <p:nvPr/>
        </p:nvSpPr>
        <p:spPr>
          <a:xfrm>
            <a:off x="2464837" y="2375866"/>
            <a:ext cx="3386250" cy="553983"/>
          </a:xfrm>
          <a:prstGeom prst="rect">
            <a:avLst/>
          </a:prstGeom>
        </p:spPr>
        <p:txBody>
          <a:bodyPr lIns="0" tIns="0" rIns="0" bIns="0" rtlCol="0" anchor="t">
            <a:spAutoFit/>
          </a:bodyPr>
          <a:lstStyle/>
          <a:p>
            <a:pPr marL="0" lvl="0" indent="0" algn="ctr">
              <a:lnSpc>
                <a:spcPts val="4257"/>
              </a:lnSpc>
              <a:spcBef>
                <a:spcPct val="0"/>
              </a:spcBef>
            </a:pPr>
            <a:r>
              <a:rPr lang="en-US" sz="3870">
                <a:solidFill>
                  <a:srgbClr val="353535"/>
                </a:solidFill>
                <a:latin typeface="Barlow Condensed Bold"/>
              </a:rPr>
              <a:t>ATOMICIDADE</a:t>
            </a:r>
          </a:p>
        </p:txBody>
      </p:sp>
      <p:sp>
        <p:nvSpPr>
          <p:cNvPr id="17" name="TextBox 17"/>
          <p:cNvSpPr txBox="1"/>
          <p:nvPr/>
        </p:nvSpPr>
        <p:spPr>
          <a:xfrm>
            <a:off x="12505792" y="2422538"/>
            <a:ext cx="3235416" cy="460638"/>
          </a:xfrm>
          <a:prstGeom prst="rect">
            <a:avLst/>
          </a:prstGeom>
        </p:spPr>
        <p:txBody>
          <a:bodyPr lIns="0" tIns="0" rIns="0" bIns="0" rtlCol="0" anchor="t">
            <a:spAutoFit/>
          </a:bodyPr>
          <a:lstStyle/>
          <a:p>
            <a:pPr marL="0" lvl="0" indent="0" algn="ctr">
              <a:lnSpc>
                <a:spcPts val="3597"/>
              </a:lnSpc>
              <a:spcBef>
                <a:spcPct val="0"/>
              </a:spcBef>
            </a:pPr>
            <a:r>
              <a:rPr lang="en-US" sz="3270">
                <a:solidFill>
                  <a:srgbClr val="353535"/>
                </a:solidFill>
                <a:latin typeface="Barlow Condensed Bold"/>
              </a:rPr>
              <a:t>CONSISTÊNCIA</a:t>
            </a:r>
          </a:p>
        </p:txBody>
      </p:sp>
      <p:sp>
        <p:nvSpPr>
          <p:cNvPr id="18" name="TextBox 18"/>
          <p:cNvSpPr txBox="1"/>
          <p:nvPr/>
        </p:nvSpPr>
        <p:spPr>
          <a:xfrm>
            <a:off x="12770930" y="7586583"/>
            <a:ext cx="2717754" cy="501278"/>
          </a:xfrm>
          <a:prstGeom prst="rect">
            <a:avLst/>
          </a:prstGeom>
        </p:spPr>
        <p:txBody>
          <a:bodyPr lIns="0" tIns="0" rIns="0" bIns="0" rtlCol="0" anchor="t">
            <a:spAutoFit/>
          </a:bodyPr>
          <a:lstStyle/>
          <a:p>
            <a:pPr marL="0" lvl="0" indent="0" algn="ctr">
              <a:lnSpc>
                <a:spcPts val="3817"/>
              </a:lnSpc>
              <a:spcBef>
                <a:spcPct val="0"/>
              </a:spcBef>
            </a:pPr>
            <a:r>
              <a:rPr lang="en-US" sz="3470">
                <a:solidFill>
                  <a:srgbClr val="353535"/>
                </a:solidFill>
                <a:latin typeface="Barlow Condensed Bold"/>
              </a:rPr>
              <a:t>DURABILIDADE</a:t>
            </a:r>
          </a:p>
        </p:txBody>
      </p:sp>
      <p:sp>
        <p:nvSpPr>
          <p:cNvPr id="19" name="TextBox 19"/>
          <p:cNvSpPr txBox="1"/>
          <p:nvPr/>
        </p:nvSpPr>
        <p:spPr>
          <a:xfrm>
            <a:off x="2464837" y="7558961"/>
            <a:ext cx="3454786" cy="575573"/>
          </a:xfrm>
          <a:prstGeom prst="rect">
            <a:avLst/>
          </a:prstGeom>
        </p:spPr>
        <p:txBody>
          <a:bodyPr lIns="0" tIns="0" rIns="0" bIns="0" rtlCol="0" anchor="t">
            <a:spAutoFit/>
          </a:bodyPr>
          <a:lstStyle/>
          <a:p>
            <a:pPr marL="0" lvl="0" indent="0" algn="ctr">
              <a:lnSpc>
                <a:spcPts val="4477"/>
              </a:lnSpc>
              <a:spcBef>
                <a:spcPct val="0"/>
              </a:spcBef>
            </a:pPr>
            <a:r>
              <a:rPr lang="en-US" sz="4070">
                <a:solidFill>
                  <a:srgbClr val="353535"/>
                </a:solidFill>
                <a:latin typeface="Barlow Condensed Bold"/>
              </a:rPr>
              <a:t>ISOLAMENTO</a:t>
            </a:r>
          </a:p>
        </p:txBody>
      </p:sp>
      <p:sp>
        <p:nvSpPr>
          <p:cNvPr id="20" name="AutoShape 20"/>
          <p:cNvSpPr/>
          <p:nvPr/>
        </p:nvSpPr>
        <p:spPr>
          <a:xfrm flipV="1">
            <a:off x="6341966" y="5787885"/>
            <a:ext cx="5569592" cy="28575"/>
          </a:xfrm>
          <a:prstGeom prst="line">
            <a:avLst/>
          </a:prstGeom>
          <a:ln w="57150" cap="rnd">
            <a:solidFill>
              <a:srgbClr val="FF6557"/>
            </a:solidFill>
            <a:prstDash val="sysDot"/>
            <a:headEnd type="none" w="sm" len="sm"/>
            <a:tailEnd type="none" w="sm" len="sm"/>
          </a:ln>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DE5"/>
        </a:solidFill>
        <a:effectLst/>
      </p:bgPr>
    </p:bg>
    <p:spTree>
      <p:nvGrpSpPr>
        <p:cNvPr id="1" name=""/>
        <p:cNvGrpSpPr/>
        <p:nvPr/>
      </p:nvGrpSpPr>
      <p:grpSpPr>
        <a:xfrm>
          <a:off x="0" y="0"/>
          <a:ext cx="0" cy="0"/>
          <a:chOff x="0" y="0"/>
          <a:chExt cx="0" cy="0"/>
        </a:xfrm>
      </p:grpSpPr>
      <p:sp>
        <p:nvSpPr>
          <p:cNvPr id="2" name="Freeform 2"/>
          <p:cNvSpPr/>
          <p:nvPr/>
        </p:nvSpPr>
        <p:spPr>
          <a:xfrm rot="3719165">
            <a:off x="16194302" y="-581157"/>
            <a:ext cx="3473853" cy="3548761"/>
          </a:xfrm>
          <a:custGeom>
            <a:avLst/>
            <a:gdLst/>
            <a:ahLst/>
            <a:cxnLst/>
            <a:rect l="l" t="t" r="r" b="b"/>
            <a:pathLst>
              <a:path w="3473853" h="3548761">
                <a:moveTo>
                  <a:pt x="0" y="0"/>
                </a:moveTo>
                <a:lnTo>
                  <a:pt x="3473853" y="0"/>
                </a:lnTo>
                <a:lnTo>
                  <a:pt x="3473853" y="3548762"/>
                </a:lnTo>
                <a:lnTo>
                  <a:pt x="0" y="3548762"/>
                </a:lnTo>
                <a:lnTo>
                  <a:pt x="0" y="0"/>
                </a:lnTo>
                <a:close/>
              </a:path>
            </a:pathLst>
          </a:custGeom>
          <a:blipFill>
            <a:blip r:embed="rId2" cstate="print">
              <a:extLst>
                <a:ext uri="{96DAC541-7B7A-43D3-8B79-37D633B846F1}">
                  <asvg:svgBlip xmlns="" xmlns:asvg="http://schemas.microsoft.com/office/drawing/2016/SVG/main" r:embed="rId3"/>
                </a:ext>
              </a:extLst>
            </a:blip>
            <a:stretch>
              <a:fillRect/>
            </a:stretch>
          </a:blipFill>
        </p:spPr>
      </p:sp>
      <p:sp>
        <p:nvSpPr>
          <p:cNvPr id="3" name="Freeform 3"/>
          <p:cNvSpPr/>
          <p:nvPr/>
        </p:nvSpPr>
        <p:spPr>
          <a:xfrm rot="-8826840">
            <a:off x="16343147" y="7089696"/>
            <a:ext cx="3473853" cy="3548761"/>
          </a:xfrm>
          <a:custGeom>
            <a:avLst/>
            <a:gdLst/>
            <a:ahLst/>
            <a:cxnLst/>
            <a:rect l="l" t="t" r="r" b="b"/>
            <a:pathLst>
              <a:path w="3473853" h="3548761">
                <a:moveTo>
                  <a:pt x="0" y="0"/>
                </a:moveTo>
                <a:lnTo>
                  <a:pt x="3473853" y="0"/>
                </a:lnTo>
                <a:lnTo>
                  <a:pt x="3473853" y="3548761"/>
                </a:lnTo>
                <a:lnTo>
                  <a:pt x="0" y="3548761"/>
                </a:lnTo>
                <a:lnTo>
                  <a:pt x="0" y="0"/>
                </a:lnTo>
                <a:close/>
              </a:path>
            </a:pathLst>
          </a:custGeom>
          <a:blipFill>
            <a:blip r:embed="rId2" cstate="print">
              <a:extLst>
                <a:ext uri="{96DAC541-7B7A-43D3-8B79-37D633B846F1}">
                  <asvg:svgBlip xmlns="" xmlns:asvg="http://schemas.microsoft.com/office/drawing/2016/SVG/main" r:embed="rId3"/>
                </a:ext>
              </a:extLst>
            </a:blip>
            <a:stretch>
              <a:fillRect/>
            </a:stretch>
          </a:blipFill>
        </p:spPr>
      </p:sp>
      <p:grpSp>
        <p:nvGrpSpPr>
          <p:cNvPr id="4" name="Group 4"/>
          <p:cNvGrpSpPr/>
          <p:nvPr/>
        </p:nvGrpSpPr>
        <p:grpSpPr>
          <a:xfrm>
            <a:off x="-1" y="1833810"/>
            <a:ext cx="9795045" cy="6913329"/>
            <a:chOff x="0" y="0"/>
            <a:chExt cx="1578752" cy="1031589"/>
          </a:xfrm>
        </p:grpSpPr>
        <p:sp>
          <p:nvSpPr>
            <p:cNvPr id="5" name="Freeform 5"/>
            <p:cNvSpPr/>
            <p:nvPr/>
          </p:nvSpPr>
          <p:spPr>
            <a:xfrm>
              <a:off x="0" y="0"/>
              <a:ext cx="1578752" cy="1031589"/>
            </a:xfrm>
            <a:custGeom>
              <a:avLst/>
              <a:gdLst/>
              <a:ahLst/>
              <a:cxnLst/>
              <a:rect l="l" t="t" r="r" b="b"/>
              <a:pathLst>
                <a:path w="1578752" h="1031589">
                  <a:moveTo>
                    <a:pt x="37319" y="0"/>
                  </a:moveTo>
                  <a:lnTo>
                    <a:pt x="1541434" y="0"/>
                  </a:lnTo>
                  <a:cubicBezTo>
                    <a:pt x="1562044" y="0"/>
                    <a:pt x="1578752" y="16708"/>
                    <a:pt x="1578752" y="37319"/>
                  </a:cubicBezTo>
                  <a:lnTo>
                    <a:pt x="1578752" y="994270"/>
                  </a:lnTo>
                  <a:cubicBezTo>
                    <a:pt x="1578752" y="1004168"/>
                    <a:pt x="1574820" y="1013660"/>
                    <a:pt x="1567822" y="1020658"/>
                  </a:cubicBezTo>
                  <a:cubicBezTo>
                    <a:pt x="1560823" y="1027657"/>
                    <a:pt x="1551331" y="1031589"/>
                    <a:pt x="1541434" y="1031589"/>
                  </a:cubicBezTo>
                  <a:lnTo>
                    <a:pt x="37319" y="1031589"/>
                  </a:lnTo>
                  <a:cubicBezTo>
                    <a:pt x="16708" y="1031589"/>
                    <a:pt x="0" y="1014881"/>
                    <a:pt x="0" y="994270"/>
                  </a:cubicBezTo>
                  <a:lnTo>
                    <a:pt x="0" y="37319"/>
                  </a:lnTo>
                  <a:cubicBezTo>
                    <a:pt x="0" y="27421"/>
                    <a:pt x="3932" y="17929"/>
                    <a:pt x="10930" y="10930"/>
                  </a:cubicBezTo>
                  <a:cubicBezTo>
                    <a:pt x="17929" y="3932"/>
                    <a:pt x="27421" y="0"/>
                    <a:pt x="37319" y="0"/>
                  </a:cubicBezTo>
                  <a:close/>
                </a:path>
              </a:pathLst>
            </a:custGeom>
            <a:solidFill>
              <a:srgbClr val="50E2E3"/>
            </a:solidFill>
            <a:ln>
              <a:noFill/>
            </a:ln>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grpSp>
        <p:nvGrpSpPr>
          <p:cNvPr id="7" name="Group 7"/>
          <p:cNvGrpSpPr/>
          <p:nvPr/>
        </p:nvGrpSpPr>
        <p:grpSpPr>
          <a:xfrm>
            <a:off x="10415846" y="1960817"/>
            <a:ext cx="5566826" cy="1068335"/>
            <a:chOff x="0" y="0"/>
            <a:chExt cx="830667" cy="159414"/>
          </a:xfrm>
        </p:grpSpPr>
        <p:sp>
          <p:nvSpPr>
            <p:cNvPr id="8" name="Freeform 8"/>
            <p:cNvSpPr/>
            <p:nvPr/>
          </p:nvSpPr>
          <p:spPr>
            <a:xfrm>
              <a:off x="0" y="0"/>
              <a:ext cx="830667" cy="159414"/>
            </a:xfrm>
            <a:custGeom>
              <a:avLst/>
              <a:gdLst/>
              <a:ahLst/>
              <a:cxnLst/>
              <a:rect l="l" t="t" r="r" b="b"/>
              <a:pathLst>
                <a:path w="830667" h="159414">
                  <a:moveTo>
                    <a:pt x="51457" y="0"/>
                  </a:moveTo>
                  <a:lnTo>
                    <a:pt x="779210" y="0"/>
                  </a:lnTo>
                  <a:cubicBezTo>
                    <a:pt x="807629" y="0"/>
                    <a:pt x="830667" y="23038"/>
                    <a:pt x="830667" y="51457"/>
                  </a:cubicBezTo>
                  <a:lnTo>
                    <a:pt x="830667" y="107957"/>
                  </a:lnTo>
                  <a:cubicBezTo>
                    <a:pt x="830667" y="136376"/>
                    <a:pt x="807629" y="159414"/>
                    <a:pt x="779210" y="159414"/>
                  </a:cubicBezTo>
                  <a:lnTo>
                    <a:pt x="51457" y="159414"/>
                  </a:lnTo>
                  <a:cubicBezTo>
                    <a:pt x="23038" y="159414"/>
                    <a:pt x="0" y="136376"/>
                    <a:pt x="0" y="107957"/>
                  </a:cubicBezTo>
                  <a:lnTo>
                    <a:pt x="0" y="51457"/>
                  </a:lnTo>
                  <a:cubicBezTo>
                    <a:pt x="0" y="23038"/>
                    <a:pt x="23038" y="0"/>
                    <a:pt x="51457" y="0"/>
                  </a:cubicBezTo>
                  <a:close/>
                </a:path>
              </a:pathLst>
            </a:custGeom>
            <a:solidFill>
              <a:srgbClr val="FEA5A9"/>
            </a:solidFill>
            <a:ln>
              <a:noFill/>
            </a:ln>
          </p:spPr>
        </p:sp>
        <p:sp>
          <p:nvSpPr>
            <p:cNvPr id="9" name="TextBox 9"/>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grpSp>
        <p:nvGrpSpPr>
          <p:cNvPr id="10" name="Group 10"/>
          <p:cNvGrpSpPr/>
          <p:nvPr/>
        </p:nvGrpSpPr>
        <p:grpSpPr>
          <a:xfrm>
            <a:off x="10415846" y="4609333"/>
            <a:ext cx="5566826" cy="1068335"/>
            <a:chOff x="0" y="0"/>
            <a:chExt cx="830667" cy="159414"/>
          </a:xfrm>
        </p:grpSpPr>
        <p:sp>
          <p:nvSpPr>
            <p:cNvPr id="11" name="Freeform 11"/>
            <p:cNvSpPr/>
            <p:nvPr/>
          </p:nvSpPr>
          <p:spPr>
            <a:xfrm>
              <a:off x="0" y="0"/>
              <a:ext cx="830667" cy="159414"/>
            </a:xfrm>
            <a:custGeom>
              <a:avLst/>
              <a:gdLst/>
              <a:ahLst/>
              <a:cxnLst/>
              <a:rect l="l" t="t" r="r" b="b"/>
              <a:pathLst>
                <a:path w="830667" h="159414">
                  <a:moveTo>
                    <a:pt x="51457" y="0"/>
                  </a:moveTo>
                  <a:lnTo>
                    <a:pt x="779210" y="0"/>
                  </a:lnTo>
                  <a:cubicBezTo>
                    <a:pt x="807629" y="0"/>
                    <a:pt x="830667" y="23038"/>
                    <a:pt x="830667" y="51457"/>
                  </a:cubicBezTo>
                  <a:lnTo>
                    <a:pt x="830667" y="107957"/>
                  </a:lnTo>
                  <a:cubicBezTo>
                    <a:pt x="830667" y="136376"/>
                    <a:pt x="807629" y="159414"/>
                    <a:pt x="779210" y="159414"/>
                  </a:cubicBezTo>
                  <a:lnTo>
                    <a:pt x="51457" y="159414"/>
                  </a:lnTo>
                  <a:cubicBezTo>
                    <a:pt x="23038" y="159414"/>
                    <a:pt x="0" y="136376"/>
                    <a:pt x="0" y="107957"/>
                  </a:cubicBezTo>
                  <a:lnTo>
                    <a:pt x="0" y="51457"/>
                  </a:lnTo>
                  <a:cubicBezTo>
                    <a:pt x="0" y="23038"/>
                    <a:pt x="23038" y="0"/>
                    <a:pt x="51457" y="0"/>
                  </a:cubicBezTo>
                  <a:close/>
                </a:path>
              </a:pathLst>
            </a:custGeom>
            <a:solidFill>
              <a:srgbClr val="FF6557"/>
            </a:solidFill>
            <a:ln>
              <a:noFill/>
            </a:ln>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grpSp>
        <p:nvGrpSpPr>
          <p:cNvPr id="13" name="Group 13"/>
          <p:cNvGrpSpPr/>
          <p:nvPr/>
        </p:nvGrpSpPr>
        <p:grpSpPr>
          <a:xfrm>
            <a:off x="10415846" y="7678804"/>
            <a:ext cx="5566826" cy="1068335"/>
            <a:chOff x="0" y="0"/>
            <a:chExt cx="830667" cy="159414"/>
          </a:xfrm>
        </p:grpSpPr>
        <p:sp>
          <p:nvSpPr>
            <p:cNvPr id="14" name="Freeform 14"/>
            <p:cNvSpPr/>
            <p:nvPr/>
          </p:nvSpPr>
          <p:spPr>
            <a:xfrm>
              <a:off x="0" y="0"/>
              <a:ext cx="830667" cy="159414"/>
            </a:xfrm>
            <a:custGeom>
              <a:avLst/>
              <a:gdLst/>
              <a:ahLst/>
              <a:cxnLst/>
              <a:rect l="l" t="t" r="r" b="b"/>
              <a:pathLst>
                <a:path w="830667" h="159414">
                  <a:moveTo>
                    <a:pt x="51457" y="0"/>
                  </a:moveTo>
                  <a:lnTo>
                    <a:pt x="779210" y="0"/>
                  </a:lnTo>
                  <a:cubicBezTo>
                    <a:pt x="807629" y="0"/>
                    <a:pt x="830667" y="23038"/>
                    <a:pt x="830667" y="51457"/>
                  </a:cubicBezTo>
                  <a:lnTo>
                    <a:pt x="830667" y="107957"/>
                  </a:lnTo>
                  <a:cubicBezTo>
                    <a:pt x="830667" y="136376"/>
                    <a:pt x="807629" y="159414"/>
                    <a:pt x="779210" y="159414"/>
                  </a:cubicBezTo>
                  <a:lnTo>
                    <a:pt x="51457" y="159414"/>
                  </a:lnTo>
                  <a:cubicBezTo>
                    <a:pt x="23038" y="159414"/>
                    <a:pt x="0" y="136376"/>
                    <a:pt x="0" y="107957"/>
                  </a:cubicBezTo>
                  <a:lnTo>
                    <a:pt x="0" y="51457"/>
                  </a:lnTo>
                  <a:cubicBezTo>
                    <a:pt x="0" y="23038"/>
                    <a:pt x="23038" y="0"/>
                    <a:pt x="51457" y="0"/>
                  </a:cubicBezTo>
                  <a:close/>
                </a:path>
              </a:pathLst>
            </a:custGeom>
            <a:solidFill>
              <a:srgbClr val="FE074C"/>
            </a:solidFill>
            <a:ln>
              <a:noFill/>
            </a:ln>
          </p:spPr>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grpSp>
        <p:nvGrpSpPr>
          <p:cNvPr id="16" name="Group 16"/>
          <p:cNvGrpSpPr/>
          <p:nvPr/>
        </p:nvGrpSpPr>
        <p:grpSpPr>
          <a:xfrm>
            <a:off x="2019574" y="8433080"/>
            <a:ext cx="6262003" cy="628119"/>
            <a:chOff x="0" y="0"/>
            <a:chExt cx="934400" cy="93726"/>
          </a:xfrm>
        </p:grpSpPr>
        <p:sp>
          <p:nvSpPr>
            <p:cNvPr id="17" name="Freeform 17"/>
            <p:cNvSpPr/>
            <p:nvPr/>
          </p:nvSpPr>
          <p:spPr>
            <a:xfrm>
              <a:off x="0" y="0"/>
              <a:ext cx="934400" cy="93726"/>
            </a:xfrm>
            <a:custGeom>
              <a:avLst/>
              <a:gdLst/>
              <a:ahLst/>
              <a:cxnLst/>
              <a:rect l="l" t="t" r="r" b="b"/>
              <a:pathLst>
                <a:path w="934400" h="93726">
                  <a:moveTo>
                    <a:pt x="25963" y="0"/>
                  </a:moveTo>
                  <a:lnTo>
                    <a:pt x="908437" y="0"/>
                  </a:lnTo>
                  <a:cubicBezTo>
                    <a:pt x="915323" y="0"/>
                    <a:pt x="921926" y="2735"/>
                    <a:pt x="926795" y="7604"/>
                  </a:cubicBezTo>
                  <a:cubicBezTo>
                    <a:pt x="931664" y="12473"/>
                    <a:pt x="934400" y="19077"/>
                    <a:pt x="934400" y="25963"/>
                  </a:cubicBezTo>
                  <a:lnTo>
                    <a:pt x="934400" y="67763"/>
                  </a:lnTo>
                  <a:cubicBezTo>
                    <a:pt x="934400" y="82102"/>
                    <a:pt x="922776" y="93726"/>
                    <a:pt x="908437" y="93726"/>
                  </a:cubicBezTo>
                  <a:lnTo>
                    <a:pt x="25963" y="93726"/>
                  </a:lnTo>
                  <a:cubicBezTo>
                    <a:pt x="11624" y="93726"/>
                    <a:pt x="0" y="82102"/>
                    <a:pt x="0" y="67763"/>
                  </a:cubicBezTo>
                  <a:lnTo>
                    <a:pt x="0" y="25963"/>
                  </a:lnTo>
                  <a:cubicBezTo>
                    <a:pt x="0" y="11624"/>
                    <a:pt x="11624" y="0"/>
                    <a:pt x="25963" y="0"/>
                  </a:cubicBezTo>
                  <a:close/>
                </a:path>
              </a:pathLst>
            </a:custGeom>
            <a:solidFill>
              <a:srgbClr val="FFCE01"/>
            </a:solidFill>
            <a:ln>
              <a:noFill/>
            </a:ln>
          </p:spPr>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sp>
        <p:nvSpPr>
          <p:cNvPr id="19" name="Freeform 19"/>
          <p:cNvSpPr/>
          <p:nvPr/>
        </p:nvSpPr>
        <p:spPr>
          <a:xfrm rot="3944022">
            <a:off x="12637888" y="3264942"/>
            <a:ext cx="1590509" cy="1129262"/>
          </a:xfrm>
          <a:custGeom>
            <a:avLst/>
            <a:gdLst/>
            <a:ahLst/>
            <a:cxnLst/>
            <a:rect l="l" t="t" r="r" b="b"/>
            <a:pathLst>
              <a:path w="1590509" h="1129262">
                <a:moveTo>
                  <a:pt x="0" y="0"/>
                </a:moveTo>
                <a:lnTo>
                  <a:pt x="1590509" y="0"/>
                </a:lnTo>
                <a:lnTo>
                  <a:pt x="1590509" y="1129261"/>
                </a:lnTo>
                <a:lnTo>
                  <a:pt x="0" y="1129261"/>
                </a:lnTo>
                <a:lnTo>
                  <a:pt x="0" y="0"/>
                </a:lnTo>
                <a:close/>
              </a:path>
            </a:pathLst>
          </a:custGeom>
          <a:blipFill>
            <a:blip r:embed="rId4" cstate="print">
              <a:extLst>
                <a:ext uri="{96DAC541-7B7A-43D3-8B79-37D633B846F1}">
                  <asvg:svgBlip xmlns="" xmlns:asvg="http://schemas.microsoft.com/office/drawing/2016/SVG/main" r:embed="rId5"/>
                </a:ext>
              </a:extLst>
            </a:blip>
            <a:stretch>
              <a:fillRect/>
            </a:stretch>
          </a:blipFill>
        </p:spPr>
      </p:sp>
      <p:sp>
        <p:nvSpPr>
          <p:cNvPr id="20" name="Freeform 20"/>
          <p:cNvSpPr/>
          <p:nvPr/>
        </p:nvSpPr>
        <p:spPr>
          <a:xfrm rot="5626527" flipV="1">
            <a:off x="12637888" y="6157133"/>
            <a:ext cx="1590509" cy="1129262"/>
          </a:xfrm>
          <a:custGeom>
            <a:avLst/>
            <a:gdLst/>
            <a:ahLst/>
            <a:cxnLst/>
            <a:rect l="l" t="t" r="r" b="b"/>
            <a:pathLst>
              <a:path w="1590509" h="1129262">
                <a:moveTo>
                  <a:pt x="0" y="1129261"/>
                </a:moveTo>
                <a:lnTo>
                  <a:pt x="1590509" y="1129261"/>
                </a:lnTo>
                <a:lnTo>
                  <a:pt x="1590509" y="0"/>
                </a:lnTo>
                <a:lnTo>
                  <a:pt x="0" y="0"/>
                </a:lnTo>
                <a:lnTo>
                  <a:pt x="0" y="1129261"/>
                </a:lnTo>
                <a:close/>
              </a:path>
            </a:pathLst>
          </a:custGeom>
          <a:blipFill>
            <a:blip r:embed="rId4" cstate="print">
              <a:extLst>
                <a:ext uri="{96DAC541-7B7A-43D3-8B79-37D633B846F1}">
                  <asvg:svgBlip xmlns="" xmlns:asvg="http://schemas.microsoft.com/office/drawing/2016/SVG/main" r:embed="rId5"/>
                </a:ext>
              </a:extLst>
            </a:blip>
            <a:stretch>
              <a:fillRect/>
            </a:stretch>
          </a:blipFill>
        </p:spPr>
      </p:sp>
      <p:sp>
        <p:nvSpPr>
          <p:cNvPr id="21" name="TextBox 21"/>
          <p:cNvSpPr txBox="1"/>
          <p:nvPr/>
        </p:nvSpPr>
        <p:spPr>
          <a:xfrm>
            <a:off x="1134780" y="2542553"/>
            <a:ext cx="7824621" cy="847216"/>
          </a:xfrm>
          <a:prstGeom prst="rect">
            <a:avLst/>
          </a:prstGeom>
        </p:spPr>
        <p:txBody>
          <a:bodyPr lIns="0" tIns="0" rIns="0" bIns="0" rtlCol="0" anchor="t">
            <a:spAutoFit/>
          </a:bodyPr>
          <a:lstStyle/>
          <a:p>
            <a:pPr marL="0" lvl="0" indent="0">
              <a:lnSpc>
                <a:spcPts val="6534"/>
              </a:lnSpc>
              <a:spcBef>
                <a:spcPct val="0"/>
              </a:spcBef>
            </a:pPr>
            <a:r>
              <a:rPr lang="en-US" sz="5940">
                <a:solidFill>
                  <a:srgbClr val="000000"/>
                </a:solidFill>
                <a:latin typeface="Barlow Condensed Bold"/>
              </a:rPr>
              <a:t>ATOMICIDADE</a:t>
            </a:r>
          </a:p>
        </p:txBody>
      </p:sp>
      <p:sp>
        <p:nvSpPr>
          <p:cNvPr id="22" name="AutoShape 22"/>
          <p:cNvSpPr/>
          <p:nvPr/>
        </p:nvSpPr>
        <p:spPr>
          <a:xfrm flipV="1">
            <a:off x="1118256" y="3389714"/>
            <a:ext cx="5985228" cy="28575"/>
          </a:xfrm>
          <a:prstGeom prst="line">
            <a:avLst/>
          </a:prstGeom>
          <a:ln w="57150" cap="rnd">
            <a:solidFill>
              <a:srgbClr val="FE074C"/>
            </a:solidFill>
            <a:prstDash val="sysDot"/>
            <a:headEnd type="none" w="sm" len="sm"/>
            <a:tailEnd type="none" w="sm" len="sm"/>
          </a:ln>
        </p:spPr>
      </p:sp>
      <p:sp>
        <p:nvSpPr>
          <p:cNvPr id="23" name="Freeform 23"/>
          <p:cNvSpPr/>
          <p:nvPr/>
        </p:nvSpPr>
        <p:spPr>
          <a:xfrm>
            <a:off x="16259026" y="-628814"/>
            <a:ext cx="3642094" cy="4075677"/>
          </a:xfrm>
          <a:custGeom>
            <a:avLst/>
            <a:gdLst/>
            <a:ahLst/>
            <a:cxnLst/>
            <a:rect l="l" t="t" r="r" b="b"/>
            <a:pathLst>
              <a:path w="3642094" h="4075677">
                <a:moveTo>
                  <a:pt x="0" y="0"/>
                </a:moveTo>
                <a:lnTo>
                  <a:pt x="3642095" y="0"/>
                </a:lnTo>
                <a:lnTo>
                  <a:pt x="3642095" y="4075677"/>
                </a:lnTo>
                <a:lnTo>
                  <a:pt x="0" y="4075677"/>
                </a:lnTo>
                <a:lnTo>
                  <a:pt x="0" y="0"/>
                </a:lnTo>
                <a:close/>
              </a:path>
            </a:pathLst>
          </a:custGeom>
          <a:blipFill>
            <a:blip r:embed="rId6" cstate="print">
              <a:extLst>
                <a:ext uri="{96DAC541-7B7A-43D3-8B79-37D633B846F1}">
                  <asvg:svgBlip xmlns="" xmlns:asvg="http://schemas.microsoft.com/office/drawing/2016/SVG/main" r:embed="rId7"/>
                </a:ext>
              </a:extLst>
            </a:blip>
            <a:stretch>
              <a:fillRect/>
            </a:stretch>
          </a:blipFill>
        </p:spPr>
      </p:sp>
      <p:sp>
        <p:nvSpPr>
          <p:cNvPr id="24" name="Freeform 24"/>
          <p:cNvSpPr/>
          <p:nvPr/>
        </p:nvSpPr>
        <p:spPr>
          <a:xfrm rot="9053994">
            <a:off x="16743879" y="6361505"/>
            <a:ext cx="3642094" cy="4075677"/>
          </a:xfrm>
          <a:custGeom>
            <a:avLst/>
            <a:gdLst/>
            <a:ahLst/>
            <a:cxnLst/>
            <a:rect l="l" t="t" r="r" b="b"/>
            <a:pathLst>
              <a:path w="3642094" h="4075677">
                <a:moveTo>
                  <a:pt x="0" y="0"/>
                </a:moveTo>
                <a:lnTo>
                  <a:pt x="3642095" y="0"/>
                </a:lnTo>
                <a:lnTo>
                  <a:pt x="3642095" y="4075677"/>
                </a:lnTo>
                <a:lnTo>
                  <a:pt x="0" y="4075677"/>
                </a:lnTo>
                <a:lnTo>
                  <a:pt x="0" y="0"/>
                </a:lnTo>
                <a:close/>
              </a:path>
            </a:pathLst>
          </a:custGeom>
          <a:blipFill>
            <a:blip r:embed="rId8" cstate="print">
              <a:extLst>
                <a:ext uri="{96DAC541-7B7A-43D3-8B79-37D633B846F1}">
                  <asvg:svgBlip xmlns="" xmlns:asvg="http://schemas.microsoft.com/office/drawing/2016/SVG/main" r:embed="rId9"/>
                </a:ext>
              </a:extLst>
            </a:blip>
            <a:stretch>
              <a:fillRect/>
            </a:stretch>
          </a:blipFill>
        </p:spPr>
      </p:sp>
      <p:sp>
        <p:nvSpPr>
          <p:cNvPr id="25" name="Freeform 25"/>
          <p:cNvSpPr/>
          <p:nvPr/>
        </p:nvSpPr>
        <p:spPr>
          <a:xfrm>
            <a:off x="16798265" y="2872532"/>
            <a:ext cx="2563618" cy="3356619"/>
          </a:xfrm>
          <a:custGeom>
            <a:avLst/>
            <a:gdLst/>
            <a:ahLst/>
            <a:cxnLst/>
            <a:rect l="l" t="t" r="r" b="b"/>
            <a:pathLst>
              <a:path w="2563618" h="3356619">
                <a:moveTo>
                  <a:pt x="0" y="0"/>
                </a:moveTo>
                <a:lnTo>
                  <a:pt x="2563617" y="0"/>
                </a:lnTo>
                <a:lnTo>
                  <a:pt x="2563617" y="3356618"/>
                </a:lnTo>
                <a:lnTo>
                  <a:pt x="0" y="3356618"/>
                </a:lnTo>
                <a:lnTo>
                  <a:pt x="0" y="0"/>
                </a:lnTo>
                <a:close/>
              </a:path>
            </a:pathLst>
          </a:custGeom>
          <a:blipFill>
            <a:blip r:embed="rId10" cstate="print">
              <a:extLst>
                <a:ext uri="{96DAC541-7B7A-43D3-8B79-37D633B846F1}">
                  <asvg:svgBlip xmlns="" xmlns:asvg="http://schemas.microsoft.com/office/drawing/2016/SVG/main" r:embed="rId11"/>
                </a:ext>
              </a:extLst>
            </a:blip>
            <a:stretch>
              <a:fillRect/>
            </a:stretch>
          </a:blipFill>
        </p:spPr>
      </p:sp>
      <p:sp>
        <p:nvSpPr>
          <p:cNvPr id="26" name="TextBox 26"/>
          <p:cNvSpPr txBox="1"/>
          <p:nvPr/>
        </p:nvSpPr>
        <p:spPr>
          <a:xfrm>
            <a:off x="728296" y="3783324"/>
            <a:ext cx="7553282" cy="2133163"/>
          </a:xfrm>
          <a:prstGeom prst="rect">
            <a:avLst/>
          </a:prstGeom>
        </p:spPr>
        <p:txBody>
          <a:bodyPr lIns="0" tIns="0" rIns="0" bIns="0" rtlCol="0" anchor="t">
            <a:spAutoFit/>
          </a:bodyPr>
          <a:lstStyle/>
          <a:p>
            <a:pPr marL="0" lvl="0" indent="0" algn="l">
              <a:lnSpc>
                <a:spcPts val="5709"/>
              </a:lnSpc>
            </a:pPr>
            <a:r>
              <a:rPr lang="en-US" sz="3378" spc="-101">
                <a:solidFill>
                  <a:srgbClr val="000000"/>
                </a:solidFill>
                <a:latin typeface="Barlow Condensed"/>
              </a:rPr>
              <a:t>Todas as ações que compõem a unidade de trabalho da transação devem ser concluídas com sucesso para que seja efetivada.</a:t>
            </a:r>
          </a:p>
        </p:txBody>
      </p:sp>
      <p:sp>
        <p:nvSpPr>
          <p:cNvPr id="27" name="TextBox 27"/>
          <p:cNvSpPr txBox="1"/>
          <p:nvPr/>
        </p:nvSpPr>
        <p:spPr>
          <a:xfrm>
            <a:off x="10464866" y="2326826"/>
            <a:ext cx="5517805" cy="396689"/>
          </a:xfrm>
          <a:prstGeom prst="rect">
            <a:avLst/>
          </a:prstGeom>
        </p:spPr>
        <p:txBody>
          <a:bodyPr lIns="0" tIns="0" rIns="0" bIns="0" rtlCol="0" anchor="t">
            <a:spAutoFit/>
          </a:bodyPr>
          <a:lstStyle/>
          <a:p>
            <a:pPr marL="0" lvl="0" indent="0" algn="ctr">
              <a:lnSpc>
                <a:spcPts val="3008"/>
              </a:lnSpc>
              <a:spcBef>
                <a:spcPct val="0"/>
              </a:spcBef>
            </a:pPr>
            <a:r>
              <a:rPr lang="en-US" sz="2735">
                <a:solidFill>
                  <a:srgbClr val="353535"/>
                </a:solidFill>
                <a:latin typeface="Barlow Condensed Bold"/>
              </a:rPr>
              <a:t>SALDO DE CONTA CORRENTE.</a:t>
            </a:r>
          </a:p>
        </p:txBody>
      </p:sp>
      <p:sp>
        <p:nvSpPr>
          <p:cNvPr id="28" name="TextBox 28"/>
          <p:cNvSpPr txBox="1"/>
          <p:nvPr/>
        </p:nvSpPr>
        <p:spPr>
          <a:xfrm>
            <a:off x="10464866" y="4764181"/>
            <a:ext cx="5517805" cy="777689"/>
          </a:xfrm>
          <a:prstGeom prst="rect">
            <a:avLst/>
          </a:prstGeom>
        </p:spPr>
        <p:txBody>
          <a:bodyPr lIns="0" tIns="0" rIns="0" bIns="0" rtlCol="0" anchor="t">
            <a:spAutoFit/>
          </a:bodyPr>
          <a:lstStyle/>
          <a:p>
            <a:pPr marL="0" lvl="0" indent="0" algn="ctr">
              <a:lnSpc>
                <a:spcPts val="3008"/>
              </a:lnSpc>
              <a:spcBef>
                <a:spcPct val="0"/>
              </a:spcBef>
            </a:pPr>
            <a:r>
              <a:rPr lang="en-US" sz="2735">
                <a:solidFill>
                  <a:srgbClr val="353535"/>
                </a:solidFill>
                <a:latin typeface="Barlow Condensed Bold"/>
              </a:rPr>
              <a:t>ENTREGA DO DINHEIRO PELO CAIXA ELETRÔNICO.</a:t>
            </a:r>
          </a:p>
        </p:txBody>
      </p:sp>
      <p:sp>
        <p:nvSpPr>
          <p:cNvPr id="29" name="TextBox 29"/>
          <p:cNvSpPr txBox="1"/>
          <p:nvPr/>
        </p:nvSpPr>
        <p:spPr>
          <a:xfrm>
            <a:off x="10464866" y="8002654"/>
            <a:ext cx="5517805" cy="396689"/>
          </a:xfrm>
          <a:prstGeom prst="rect">
            <a:avLst/>
          </a:prstGeom>
        </p:spPr>
        <p:txBody>
          <a:bodyPr lIns="0" tIns="0" rIns="0" bIns="0" rtlCol="0" anchor="t">
            <a:spAutoFit/>
          </a:bodyPr>
          <a:lstStyle/>
          <a:p>
            <a:pPr marL="0" lvl="0" indent="0" algn="ctr">
              <a:lnSpc>
                <a:spcPts val="3008"/>
              </a:lnSpc>
              <a:spcBef>
                <a:spcPct val="0"/>
              </a:spcBef>
            </a:pPr>
            <a:r>
              <a:rPr lang="en-US" sz="2735">
                <a:solidFill>
                  <a:srgbClr val="353535"/>
                </a:solidFill>
                <a:latin typeface="Barlow Condensed Bold"/>
              </a:rPr>
              <a:t>MENSAGEM DE CORREIO ELETRÔNICO.</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DE5"/>
        </a:solidFill>
        <a:effectLst/>
      </p:bgPr>
    </p:bg>
    <p:spTree>
      <p:nvGrpSpPr>
        <p:cNvPr id="1" name=""/>
        <p:cNvGrpSpPr/>
        <p:nvPr/>
      </p:nvGrpSpPr>
      <p:grpSpPr>
        <a:xfrm>
          <a:off x="0" y="0"/>
          <a:ext cx="0" cy="0"/>
          <a:chOff x="0" y="0"/>
          <a:chExt cx="0" cy="0"/>
        </a:xfrm>
      </p:grpSpPr>
      <p:grpSp>
        <p:nvGrpSpPr>
          <p:cNvPr id="2" name="Group 2"/>
          <p:cNvGrpSpPr/>
          <p:nvPr/>
        </p:nvGrpSpPr>
        <p:grpSpPr>
          <a:xfrm>
            <a:off x="0" y="1833810"/>
            <a:ext cx="15998511" cy="6731255"/>
            <a:chOff x="0" y="0"/>
            <a:chExt cx="2642855" cy="1004420"/>
          </a:xfrm>
        </p:grpSpPr>
        <p:sp>
          <p:nvSpPr>
            <p:cNvPr id="3" name="Freeform 3"/>
            <p:cNvSpPr/>
            <p:nvPr/>
          </p:nvSpPr>
          <p:spPr>
            <a:xfrm>
              <a:off x="0" y="0"/>
              <a:ext cx="2642855" cy="1004420"/>
            </a:xfrm>
            <a:custGeom>
              <a:avLst/>
              <a:gdLst/>
              <a:ahLst/>
              <a:cxnLst/>
              <a:rect l="l" t="t" r="r" b="b"/>
              <a:pathLst>
                <a:path w="2642855" h="1004420">
                  <a:moveTo>
                    <a:pt x="22293" y="0"/>
                  </a:moveTo>
                  <a:lnTo>
                    <a:pt x="2620563" y="0"/>
                  </a:lnTo>
                  <a:cubicBezTo>
                    <a:pt x="2626475" y="0"/>
                    <a:pt x="2632145" y="2349"/>
                    <a:pt x="2636326" y="6529"/>
                  </a:cubicBezTo>
                  <a:cubicBezTo>
                    <a:pt x="2640507" y="10710"/>
                    <a:pt x="2642855" y="16380"/>
                    <a:pt x="2642855" y="22293"/>
                  </a:cubicBezTo>
                  <a:lnTo>
                    <a:pt x="2642855" y="982127"/>
                  </a:lnTo>
                  <a:cubicBezTo>
                    <a:pt x="2642855" y="994439"/>
                    <a:pt x="2632875" y="1004420"/>
                    <a:pt x="2620563" y="1004420"/>
                  </a:cubicBezTo>
                  <a:lnTo>
                    <a:pt x="22293" y="1004420"/>
                  </a:lnTo>
                  <a:cubicBezTo>
                    <a:pt x="9981" y="1004420"/>
                    <a:pt x="0" y="994439"/>
                    <a:pt x="0" y="982127"/>
                  </a:cubicBezTo>
                  <a:lnTo>
                    <a:pt x="0" y="22293"/>
                  </a:lnTo>
                  <a:cubicBezTo>
                    <a:pt x="0" y="9981"/>
                    <a:pt x="9981" y="0"/>
                    <a:pt x="22293" y="0"/>
                  </a:cubicBezTo>
                  <a:close/>
                </a:path>
              </a:pathLst>
            </a:custGeom>
            <a:solidFill>
              <a:srgbClr val="FEA5A9"/>
            </a:solidFill>
            <a:ln>
              <a:no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grpSp>
        <p:nvGrpSpPr>
          <p:cNvPr id="5" name="Group 5"/>
          <p:cNvGrpSpPr/>
          <p:nvPr/>
        </p:nvGrpSpPr>
        <p:grpSpPr>
          <a:xfrm>
            <a:off x="304800" y="8192278"/>
            <a:ext cx="10481021" cy="628119"/>
            <a:chOff x="0" y="0"/>
            <a:chExt cx="1563951" cy="93726"/>
          </a:xfrm>
        </p:grpSpPr>
        <p:sp>
          <p:nvSpPr>
            <p:cNvPr id="6" name="Freeform 6"/>
            <p:cNvSpPr/>
            <p:nvPr/>
          </p:nvSpPr>
          <p:spPr>
            <a:xfrm>
              <a:off x="0" y="0"/>
              <a:ext cx="1563951" cy="93726"/>
            </a:xfrm>
            <a:custGeom>
              <a:avLst/>
              <a:gdLst/>
              <a:ahLst/>
              <a:cxnLst/>
              <a:rect l="l" t="t" r="r" b="b"/>
              <a:pathLst>
                <a:path w="1563951" h="93726">
                  <a:moveTo>
                    <a:pt x="15512" y="0"/>
                  </a:moveTo>
                  <a:lnTo>
                    <a:pt x="1548439" y="0"/>
                  </a:lnTo>
                  <a:cubicBezTo>
                    <a:pt x="1552553" y="0"/>
                    <a:pt x="1556498" y="1634"/>
                    <a:pt x="1559407" y="4543"/>
                  </a:cubicBezTo>
                  <a:cubicBezTo>
                    <a:pt x="1562316" y="7452"/>
                    <a:pt x="1563951" y="11398"/>
                    <a:pt x="1563951" y="15512"/>
                  </a:cubicBezTo>
                  <a:lnTo>
                    <a:pt x="1563951" y="78214"/>
                  </a:lnTo>
                  <a:cubicBezTo>
                    <a:pt x="1563951" y="82328"/>
                    <a:pt x="1562316" y="86274"/>
                    <a:pt x="1559407" y="89183"/>
                  </a:cubicBezTo>
                  <a:cubicBezTo>
                    <a:pt x="1556498" y="92092"/>
                    <a:pt x="1552553" y="93726"/>
                    <a:pt x="1548439" y="93726"/>
                  </a:cubicBezTo>
                  <a:lnTo>
                    <a:pt x="15512" y="93726"/>
                  </a:lnTo>
                  <a:cubicBezTo>
                    <a:pt x="11398" y="93726"/>
                    <a:pt x="7452" y="92092"/>
                    <a:pt x="4543" y="89183"/>
                  </a:cubicBezTo>
                  <a:cubicBezTo>
                    <a:pt x="1634" y="86274"/>
                    <a:pt x="0" y="82328"/>
                    <a:pt x="0" y="78214"/>
                  </a:cubicBezTo>
                  <a:lnTo>
                    <a:pt x="0" y="15512"/>
                  </a:lnTo>
                  <a:cubicBezTo>
                    <a:pt x="0" y="11398"/>
                    <a:pt x="1634" y="7452"/>
                    <a:pt x="4543" y="4543"/>
                  </a:cubicBezTo>
                  <a:cubicBezTo>
                    <a:pt x="7452" y="1634"/>
                    <a:pt x="11398" y="0"/>
                    <a:pt x="15512" y="0"/>
                  </a:cubicBezTo>
                  <a:close/>
                </a:path>
              </a:pathLst>
            </a:custGeom>
            <a:solidFill>
              <a:srgbClr val="FE074C"/>
            </a:solidFill>
            <a:ln>
              <a:noFill/>
            </a:ln>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grpSp>
        <p:nvGrpSpPr>
          <p:cNvPr id="8" name="Group 8"/>
          <p:cNvGrpSpPr/>
          <p:nvPr/>
        </p:nvGrpSpPr>
        <p:grpSpPr>
          <a:xfrm>
            <a:off x="13809211" y="-603021"/>
            <a:ext cx="4967219" cy="11216898"/>
            <a:chOff x="0" y="0"/>
            <a:chExt cx="2117230" cy="4781095"/>
          </a:xfrm>
        </p:grpSpPr>
        <p:sp>
          <p:nvSpPr>
            <p:cNvPr id="9" name="Freeform 9"/>
            <p:cNvSpPr/>
            <p:nvPr/>
          </p:nvSpPr>
          <p:spPr>
            <a:xfrm>
              <a:off x="0" y="0"/>
              <a:ext cx="2117230" cy="4781095"/>
            </a:xfrm>
            <a:custGeom>
              <a:avLst/>
              <a:gdLst/>
              <a:ahLst/>
              <a:cxnLst/>
              <a:rect l="l" t="t" r="r" b="b"/>
              <a:pathLst>
                <a:path w="2117230" h="4781095">
                  <a:moveTo>
                    <a:pt x="0" y="0"/>
                  </a:moveTo>
                  <a:lnTo>
                    <a:pt x="2117230" y="0"/>
                  </a:lnTo>
                  <a:lnTo>
                    <a:pt x="2117230" y="4781095"/>
                  </a:lnTo>
                  <a:lnTo>
                    <a:pt x="0" y="4781095"/>
                  </a:lnTo>
                  <a:close/>
                </a:path>
              </a:pathLst>
            </a:custGeom>
            <a:solidFill>
              <a:srgbClr val="FFDE59"/>
            </a:solidFill>
          </p:spPr>
        </p:sp>
        <p:sp>
          <p:nvSpPr>
            <p:cNvPr id="10" name="TextBox 10"/>
            <p:cNvSpPr txBox="1"/>
            <p:nvPr/>
          </p:nvSpPr>
          <p:spPr>
            <a:xfrm>
              <a:off x="0" y="-95250"/>
              <a:ext cx="812800" cy="908050"/>
            </a:xfrm>
            <a:prstGeom prst="rect">
              <a:avLst/>
            </a:prstGeom>
          </p:spPr>
          <p:txBody>
            <a:bodyPr lIns="50800" tIns="50800" rIns="50800" bIns="50800" rtlCol="0" anchor="ctr"/>
            <a:lstStyle/>
            <a:p>
              <a:pPr algn="ctr">
                <a:lnSpc>
                  <a:spcPts val="3213"/>
                </a:lnSpc>
              </a:pPr>
              <a:endParaRPr/>
            </a:p>
          </p:txBody>
        </p:sp>
      </p:grpSp>
      <p:sp>
        <p:nvSpPr>
          <p:cNvPr id="11" name="Freeform 11"/>
          <p:cNvSpPr/>
          <p:nvPr/>
        </p:nvSpPr>
        <p:spPr>
          <a:xfrm rot="-83669">
            <a:off x="15032042" y="-1935095"/>
            <a:ext cx="6990818" cy="7141564"/>
          </a:xfrm>
          <a:custGeom>
            <a:avLst/>
            <a:gdLst/>
            <a:ahLst/>
            <a:cxnLst/>
            <a:rect l="l" t="t" r="r" b="b"/>
            <a:pathLst>
              <a:path w="6990818" h="7141564">
                <a:moveTo>
                  <a:pt x="0" y="0"/>
                </a:moveTo>
                <a:lnTo>
                  <a:pt x="6990818" y="0"/>
                </a:lnTo>
                <a:lnTo>
                  <a:pt x="6990818" y="7141563"/>
                </a:lnTo>
                <a:lnTo>
                  <a:pt x="0" y="7141563"/>
                </a:lnTo>
                <a:lnTo>
                  <a:pt x="0" y="0"/>
                </a:lnTo>
                <a:close/>
              </a:path>
            </a:pathLst>
          </a:custGeom>
          <a:blipFill>
            <a:blip r:embed="rId2" cstate="print">
              <a:extLst>
                <a:ext uri="{96DAC541-7B7A-43D3-8B79-37D633B846F1}">
                  <asvg:svgBlip xmlns="" xmlns:asvg="http://schemas.microsoft.com/office/drawing/2016/SVG/main" r:embed="rId3"/>
                </a:ext>
              </a:extLst>
            </a:blip>
            <a:stretch>
              <a:fillRect/>
            </a:stretch>
          </a:blipFill>
        </p:spPr>
      </p:sp>
      <p:sp>
        <p:nvSpPr>
          <p:cNvPr id="12" name="AutoShape 12"/>
          <p:cNvSpPr/>
          <p:nvPr/>
        </p:nvSpPr>
        <p:spPr>
          <a:xfrm flipV="1">
            <a:off x="1389889" y="3507483"/>
            <a:ext cx="3199167" cy="0"/>
          </a:xfrm>
          <a:prstGeom prst="line">
            <a:avLst/>
          </a:prstGeom>
          <a:ln w="57150" cap="rnd">
            <a:solidFill>
              <a:srgbClr val="FFDE59"/>
            </a:solidFill>
            <a:prstDash val="sysDot"/>
            <a:headEnd type="none" w="sm" len="sm"/>
            <a:tailEnd type="none" w="sm" len="sm"/>
          </a:ln>
        </p:spPr>
      </p:sp>
      <p:sp>
        <p:nvSpPr>
          <p:cNvPr id="13" name="Freeform 13"/>
          <p:cNvSpPr/>
          <p:nvPr/>
        </p:nvSpPr>
        <p:spPr>
          <a:xfrm>
            <a:off x="11759879" y="1833810"/>
            <a:ext cx="5777113" cy="5365493"/>
          </a:xfrm>
          <a:custGeom>
            <a:avLst/>
            <a:gdLst/>
            <a:ahLst/>
            <a:cxnLst/>
            <a:rect l="l" t="t" r="r" b="b"/>
            <a:pathLst>
              <a:path w="5777113" h="5365493">
                <a:moveTo>
                  <a:pt x="0" y="0"/>
                </a:moveTo>
                <a:lnTo>
                  <a:pt x="5777113" y="0"/>
                </a:lnTo>
                <a:lnTo>
                  <a:pt x="5777113" y="5365494"/>
                </a:lnTo>
                <a:lnTo>
                  <a:pt x="0" y="5365494"/>
                </a:lnTo>
                <a:lnTo>
                  <a:pt x="0" y="0"/>
                </a:lnTo>
                <a:close/>
              </a:path>
            </a:pathLst>
          </a:custGeom>
          <a:blipFill>
            <a:blip r:embed="rId4" cstate="print">
              <a:extLst>
                <a:ext uri="{96DAC541-7B7A-43D3-8B79-37D633B846F1}">
                  <asvg:svgBlip xmlns="" xmlns:asvg="http://schemas.microsoft.com/office/drawing/2016/SVG/main" r:embed="rId5"/>
                </a:ext>
              </a:extLst>
            </a:blip>
            <a:stretch>
              <a:fillRect/>
            </a:stretch>
          </a:blipFill>
        </p:spPr>
      </p:sp>
      <p:sp>
        <p:nvSpPr>
          <p:cNvPr id="14" name="TextBox 14"/>
          <p:cNvSpPr txBox="1"/>
          <p:nvPr/>
        </p:nvSpPr>
        <p:spPr>
          <a:xfrm>
            <a:off x="1389889" y="2410417"/>
            <a:ext cx="7050405" cy="1068490"/>
          </a:xfrm>
          <a:prstGeom prst="rect">
            <a:avLst/>
          </a:prstGeom>
        </p:spPr>
        <p:txBody>
          <a:bodyPr lIns="0" tIns="0" rIns="0" bIns="0" rtlCol="0" anchor="t">
            <a:spAutoFit/>
          </a:bodyPr>
          <a:lstStyle/>
          <a:p>
            <a:pPr marL="0" lvl="0" indent="0">
              <a:lnSpc>
                <a:spcPts val="8365"/>
              </a:lnSpc>
              <a:spcBef>
                <a:spcPct val="0"/>
              </a:spcBef>
            </a:pPr>
            <a:r>
              <a:rPr lang="en-US" sz="7605">
                <a:solidFill>
                  <a:srgbClr val="353535"/>
                </a:solidFill>
                <a:latin typeface="Barlow Condensed Bold"/>
              </a:rPr>
              <a:t>CONSISTÊNCIA</a:t>
            </a:r>
          </a:p>
        </p:txBody>
      </p:sp>
      <p:sp>
        <p:nvSpPr>
          <p:cNvPr id="15" name="TextBox 15"/>
          <p:cNvSpPr txBox="1"/>
          <p:nvPr/>
        </p:nvSpPr>
        <p:spPr>
          <a:xfrm>
            <a:off x="573515" y="3973423"/>
            <a:ext cx="10834493" cy="2530586"/>
          </a:xfrm>
          <a:prstGeom prst="rect">
            <a:avLst/>
          </a:prstGeom>
        </p:spPr>
        <p:txBody>
          <a:bodyPr lIns="0" tIns="0" rIns="0" bIns="0" rtlCol="0" anchor="t">
            <a:spAutoFit/>
          </a:bodyPr>
          <a:lstStyle/>
          <a:p>
            <a:pPr algn="ctr">
              <a:lnSpc>
                <a:spcPts val="4976"/>
              </a:lnSpc>
              <a:spcBef>
                <a:spcPct val="0"/>
              </a:spcBef>
            </a:pPr>
            <a:r>
              <a:rPr lang="en-US" sz="4524">
                <a:solidFill>
                  <a:srgbClr val="353535"/>
                </a:solidFill>
                <a:latin typeface="Barlow Condensed Bold"/>
              </a:rPr>
              <a:t>NENHUMA OPERAÇÃO DO BANCO DE DADOS DE UMA TRANSAÇÃO DEVE SER PARCIAL.O RESULTADO DE UMA TRANSAÇÃO DEVE SER IMPLEMENTADO NA ÍNTEGRA.</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DE5"/>
        </a:solidFill>
        <a:effectLst/>
      </p:bgPr>
    </p:bg>
    <p:spTree>
      <p:nvGrpSpPr>
        <p:cNvPr id="1" name=""/>
        <p:cNvGrpSpPr/>
        <p:nvPr/>
      </p:nvGrpSpPr>
      <p:grpSpPr>
        <a:xfrm>
          <a:off x="0" y="0"/>
          <a:ext cx="0" cy="0"/>
          <a:chOff x="0" y="0"/>
          <a:chExt cx="0" cy="0"/>
        </a:xfrm>
      </p:grpSpPr>
      <p:sp>
        <p:nvSpPr>
          <p:cNvPr id="2" name="Freeform 2"/>
          <p:cNvSpPr/>
          <p:nvPr/>
        </p:nvSpPr>
        <p:spPr>
          <a:xfrm rot="-3138910">
            <a:off x="-485172" y="-2872075"/>
            <a:ext cx="5226451" cy="6843143"/>
          </a:xfrm>
          <a:custGeom>
            <a:avLst/>
            <a:gdLst/>
            <a:ahLst/>
            <a:cxnLst/>
            <a:rect l="l" t="t" r="r" b="b"/>
            <a:pathLst>
              <a:path w="5226451" h="6843143">
                <a:moveTo>
                  <a:pt x="0" y="0"/>
                </a:moveTo>
                <a:lnTo>
                  <a:pt x="5226450" y="0"/>
                </a:lnTo>
                <a:lnTo>
                  <a:pt x="5226450" y="6843143"/>
                </a:lnTo>
                <a:lnTo>
                  <a:pt x="0" y="6843143"/>
                </a:lnTo>
                <a:lnTo>
                  <a:pt x="0" y="0"/>
                </a:lnTo>
                <a:close/>
              </a:path>
            </a:pathLst>
          </a:custGeom>
          <a:blipFill>
            <a:blip r:embed="rId2" cstate="print">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028700" y="3552984"/>
            <a:ext cx="12543692" cy="5872722"/>
            <a:chOff x="0" y="0"/>
            <a:chExt cx="1871737" cy="876312"/>
          </a:xfrm>
        </p:grpSpPr>
        <p:sp>
          <p:nvSpPr>
            <p:cNvPr id="4" name="Freeform 4"/>
            <p:cNvSpPr/>
            <p:nvPr/>
          </p:nvSpPr>
          <p:spPr>
            <a:xfrm>
              <a:off x="0" y="0"/>
              <a:ext cx="1871737" cy="876312"/>
            </a:xfrm>
            <a:custGeom>
              <a:avLst/>
              <a:gdLst/>
              <a:ahLst/>
              <a:cxnLst/>
              <a:rect l="l" t="t" r="r" b="b"/>
              <a:pathLst>
                <a:path w="1871737" h="876312">
                  <a:moveTo>
                    <a:pt x="31477" y="0"/>
                  </a:moveTo>
                  <a:lnTo>
                    <a:pt x="1840260" y="0"/>
                  </a:lnTo>
                  <a:cubicBezTo>
                    <a:pt x="1848608" y="0"/>
                    <a:pt x="1856614" y="3316"/>
                    <a:pt x="1862517" y="9219"/>
                  </a:cubicBezTo>
                  <a:cubicBezTo>
                    <a:pt x="1868420" y="15122"/>
                    <a:pt x="1871737" y="23129"/>
                    <a:pt x="1871737" y="31477"/>
                  </a:cubicBezTo>
                  <a:lnTo>
                    <a:pt x="1871737" y="844835"/>
                  </a:lnTo>
                  <a:cubicBezTo>
                    <a:pt x="1871737" y="853183"/>
                    <a:pt x="1868420" y="861190"/>
                    <a:pt x="1862517" y="867093"/>
                  </a:cubicBezTo>
                  <a:cubicBezTo>
                    <a:pt x="1856614" y="872996"/>
                    <a:pt x="1848608" y="876312"/>
                    <a:pt x="1840260" y="876312"/>
                  </a:cubicBezTo>
                  <a:lnTo>
                    <a:pt x="31477" y="876312"/>
                  </a:lnTo>
                  <a:cubicBezTo>
                    <a:pt x="23129" y="876312"/>
                    <a:pt x="15122" y="872996"/>
                    <a:pt x="9219" y="867093"/>
                  </a:cubicBezTo>
                  <a:cubicBezTo>
                    <a:pt x="3316" y="861190"/>
                    <a:pt x="0" y="853183"/>
                    <a:pt x="0" y="844835"/>
                  </a:cubicBezTo>
                  <a:lnTo>
                    <a:pt x="0" y="31477"/>
                  </a:lnTo>
                  <a:cubicBezTo>
                    <a:pt x="0" y="23129"/>
                    <a:pt x="3316" y="15122"/>
                    <a:pt x="9219" y="9219"/>
                  </a:cubicBezTo>
                  <a:cubicBezTo>
                    <a:pt x="15122" y="3316"/>
                    <a:pt x="23129" y="0"/>
                    <a:pt x="31477" y="0"/>
                  </a:cubicBezTo>
                  <a:close/>
                </a:path>
              </a:pathLst>
            </a:custGeom>
            <a:solidFill>
              <a:srgbClr val="FFDE59"/>
            </a:solidFill>
            <a:ln>
              <a:noFill/>
            </a:ln>
          </p:spPr>
        </p:sp>
        <p:sp>
          <p:nvSpPr>
            <p:cNvPr id="5" name="TextBox 5"/>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grpSp>
        <p:nvGrpSpPr>
          <p:cNvPr id="6" name="Group 6"/>
          <p:cNvGrpSpPr/>
          <p:nvPr/>
        </p:nvGrpSpPr>
        <p:grpSpPr>
          <a:xfrm>
            <a:off x="304800" y="9091630"/>
            <a:ext cx="7387038" cy="628119"/>
            <a:chOff x="0" y="0"/>
            <a:chExt cx="1302783" cy="93726"/>
          </a:xfrm>
        </p:grpSpPr>
        <p:sp>
          <p:nvSpPr>
            <p:cNvPr id="7" name="Freeform 7"/>
            <p:cNvSpPr/>
            <p:nvPr/>
          </p:nvSpPr>
          <p:spPr>
            <a:xfrm>
              <a:off x="0" y="0"/>
              <a:ext cx="1302783" cy="93726"/>
            </a:xfrm>
            <a:custGeom>
              <a:avLst/>
              <a:gdLst/>
              <a:ahLst/>
              <a:cxnLst/>
              <a:rect l="l" t="t" r="r" b="b"/>
              <a:pathLst>
                <a:path w="1302783" h="93726">
                  <a:moveTo>
                    <a:pt x="18622" y="0"/>
                  </a:moveTo>
                  <a:lnTo>
                    <a:pt x="1284162" y="0"/>
                  </a:lnTo>
                  <a:cubicBezTo>
                    <a:pt x="1294446" y="0"/>
                    <a:pt x="1302783" y="8337"/>
                    <a:pt x="1302783" y="18622"/>
                  </a:cubicBezTo>
                  <a:lnTo>
                    <a:pt x="1302783" y="75105"/>
                  </a:lnTo>
                  <a:cubicBezTo>
                    <a:pt x="1302783" y="80043"/>
                    <a:pt x="1300821" y="84780"/>
                    <a:pt x="1297329" y="88272"/>
                  </a:cubicBezTo>
                  <a:cubicBezTo>
                    <a:pt x="1293837" y="91764"/>
                    <a:pt x="1289100" y="93726"/>
                    <a:pt x="1284162" y="93726"/>
                  </a:cubicBezTo>
                  <a:lnTo>
                    <a:pt x="18622" y="93726"/>
                  </a:lnTo>
                  <a:cubicBezTo>
                    <a:pt x="8337" y="93726"/>
                    <a:pt x="0" y="85389"/>
                    <a:pt x="0" y="75105"/>
                  </a:cubicBezTo>
                  <a:lnTo>
                    <a:pt x="0" y="18622"/>
                  </a:lnTo>
                  <a:cubicBezTo>
                    <a:pt x="0" y="8337"/>
                    <a:pt x="8337" y="0"/>
                    <a:pt x="18622" y="0"/>
                  </a:cubicBezTo>
                  <a:close/>
                </a:path>
              </a:pathLst>
            </a:custGeom>
            <a:solidFill>
              <a:srgbClr val="24C6C7"/>
            </a:solidFill>
            <a:ln>
              <a:noFill/>
            </a:ln>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sp>
        <p:nvSpPr>
          <p:cNvPr id="9" name="TextBox 9"/>
          <p:cNvSpPr txBox="1"/>
          <p:nvPr/>
        </p:nvSpPr>
        <p:spPr>
          <a:xfrm>
            <a:off x="900826" y="922754"/>
            <a:ext cx="7932319" cy="1380080"/>
          </a:xfrm>
          <a:prstGeom prst="rect">
            <a:avLst/>
          </a:prstGeom>
        </p:spPr>
        <p:txBody>
          <a:bodyPr lIns="0" tIns="0" rIns="0" bIns="0" rtlCol="0" anchor="t">
            <a:spAutoFit/>
          </a:bodyPr>
          <a:lstStyle/>
          <a:p>
            <a:pPr marL="0" lvl="0" indent="0">
              <a:lnSpc>
                <a:spcPts val="10634"/>
              </a:lnSpc>
              <a:spcBef>
                <a:spcPct val="0"/>
              </a:spcBef>
            </a:pPr>
            <a:r>
              <a:rPr lang="en-US" sz="9667">
                <a:solidFill>
                  <a:srgbClr val="000000"/>
                </a:solidFill>
                <a:latin typeface="Barlow Condensed Bold"/>
              </a:rPr>
              <a:t>ISOLAMENTO</a:t>
            </a:r>
          </a:p>
        </p:txBody>
      </p:sp>
      <p:sp>
        <p:nvSpPr>
          <p:cNvPr id="10" name="AutoShape 10"/>
          <p:cNvSpPr/>
          <p:nvPr/>
        </p:nvSpPr>
        <p:spPr>
          <a:xfrm>
            <a:off x="944231" y="2168314"/>
            <a:ext cx="3922755" cy="134521"/>
          </a:xfrm>
          <a:prstGeom prst="line">
            <a:avLst/>
          </a:prstGeom>
          <a:ln w="57150" cap="rnd">
            <a:solidFill>
              <a:srgbClr val="FE074C"/>
            </a:solidFill>
            <a:prstDash val="sysDot"/>
            <a:headEnd type="none" w="sm" len="sm"/>
            <a:tailEnd type="none" w="sm" len="sm"/>
          </a:ln>
        </p:spPr>
      </p:sp>
      <p:grpSp>
        <p:nvGrpSpPr>
          <p:cNvPr id="11" name="Group 11"/>
          <p:cNvGrpSpPr/>
          <p:nvPr/>
        </p:nvGrpSpPr>
        <p:grpSpPr>
          <a:xfrm>
            <a:off x="13572392" y="677222"/>
            <a:ext cx="3686908" cy="3686908"/>
            <a:chOff x="0" y="0"/>
            <a:chExt cx="4915878" cy="4915878"/>
          </a:xfrm>
        </p:grpSpPr>
        <p:grpSp>
          <p:nvGrpSpPr>
            <p:cNvPr id="12" name="Group 12"/>
            <p:cNvGrpSpPr>
              <a:grpSpLocks noChangeAspect="1"/>
            </p:cNvGrpSpPr>
            <p:nvPr/>
          </p:nvGrpSpPr>
          <p:grpSpPr>
            <a:xfrm>
              <a:off x="0" y="0"/>
              <a:ext cx="4915878" cy="4915878"/>
              <a:chOff x="0" y="0"/>
              <a:chExt cx="2540000" cy="2540000"/>
            </a:xfrm>
          </p:grpSpPr>
          <p:sp>
            <p:nvSpPr>
              <p:cNvPr id="13" name="Freeform 13"/>
              <p:cNvSpPr/>
              <p:nvPr/>
            </p:nvSpPr>
            <p:spPr>
              <a:xfrm>
                <a:off x="-62725" y="-2035"/>
                <a:ext cx="2665449" cy="2544070"/>
              </a:xfrm>
              <a:custGeom>
                <a:avLst/>
                <a:gdLst/>
                <a:ahLst/>
                <a:cxnLst/>
                <a:rect l="l" t="t" r="r" b="b"/>
                <a:pathLst>
                  <a:path w="2665449" h="2544070">
                    <a:moveTo>
                      <a:pt x="1332725" y="2035"/>
                    </a:moveTo>
                    <a:cubicBezTo>
                      <a:pt x="1787805" y="0"/>
                      <a:pt x="2209190" y="241614"/>
                      <a:pt x="2437320" y="635390"/>
                    </a:cubicBezTo>
                    <a:cubicBezTo>
                      <a:pt x="2665450" y="1029165"/>
                      <a:pt x="2665450" y="1514905"/>
                      <a:pt x="2437320" y="1908680"/>
                    </a:cubicBezTo>
                    <a:cubicBezTo>
                      <a:pt x="2209190" y="2302456"/>
                      <a:pt x="1787805" y="2544070"/>
                      <a:pt x="1332725" y="2542035"/>
                    </a:cubicBezTo>
                    <a:cubicBezTo>
                      <a:pt x="877645" y="2544070"/>
                      <a:pt x="456260" y="2302456"/>
                      <a:pt x="228130" y="1908680"/>
                    </a:cubicBezTo>
                    <a:cubicBezTo>
                      <a:pt x="0" y="1514905"/>
                      <a:pt x="0" y="1029165"/>
                      <a:pt x="228130" y="635390"/>
                    </a:cubicBezTo>
                    <a:cubicBezTo>
                      <a:pt x="456260" y="241614"/>
                      <a:pt x="877645" y="0"/>
                      <a:pt x="1332725" y="2035"/>
                    </a:cubicBezTo>
                    <a:lnTo>
                      <a:pt x="1332725" y="510035"/>
                    </a:lnTo>
                    <a:cubicBezTo>
                      <a:pt x="1059677" y="508814"/>
                      <a:pt x="806846" y="653783"/>
                      <a:pt x="669968" y="890048"/>
                    </a:cubicBezTo>
                    <a:cubicBezTo>
                      <a:pt x="533090" y="1126313"/>
                      <a:pt x="533090" y="1417757"/>
                      <a:pt x="669968" y="1654022"/>
                    </a:cubicBezTo>
                    <a:cubicBezTo>
                      <a:pt x="806846" y="1890287"/>
                      <a:pt x="1059677" y="2035256"/>
                      <a:pt x="1332725" y="2034035"/>
                    </a:cubicBezTo>
                    <a:cubicBezTo>
                      <a:pt x="1605773" y="2035256"/>
                      <a:pt x="1858604" y="1890287"/>
                      <a:pt x="1995482" y="1654022"/>
                    </a:cubicBezTo>
                    <a:cubicBezTo>
                      <a:pt x="2132360" y="1417757"/>
                      <a:pt x="2132360" y="1126313"/>
                      <a:pt x="1995482" y="890048"/>
                    </a:cubicBezTo>
                    <a:cubicBezTo>
                      <a:pt x="1858604" y="653783"/>
                      <a:pt x="1605773" y="508814"/>
                      <a:pt x="1332725" y="510035"/>
                    </a:cubicBezTo>
                    <a:close/>
                  </a:path>
                </a:pathLst>
              </a:custGeom>
              <a:solidFill>
                <a:srgbClr val="FFE28E"/>
              </a:solidFill>
            </p:spPr>
          </p:sp>
          <p:sp>
            <p:nvSpPr>
              <p:cNvPr id="14" name="Freeform 14"/>
              <p:cNvSpPr/>
              <p:nvPr/>
            </p:nvSpPr>
            <p:spPr>
              <a:xfrm>
                <a:off x="113608" y="17180"/>
                <a:ext cx="2426654" cy="2627105"/>
              </a:xfrm>
              <a:custGeom>
                <a:avLst/>
                <a:gdLst/>
                <a:ahLst/>
                <a:cxnLst/>
                <a:rect l="l" t="t" r="r" b="b"/>
                <a:pathLst>
                  <a:path w="2426654" h="2627105">
                    <a:moveTo>
                      <a:pt x="1473892" y="23148"/>
                    </a:moveTo>
                    <a:cubicBezTo>
                      <a:pt x="2034827" y="167981"/>
                      <a:pt x="2426653" y="674062"/>
                      <a:pt x="2426392" y="1253393"/>
                    </a:cubicBezTo>
                    <a:cubicBezTo>
                      <a:pt x="2426131" y="1832724"/>
                      <a:pt x="2033848" y="2338451"/>
                      <a:pt x="1472783" y="2482778"/>
                    </a:cubicBezTo>
                    <a:cubicBezTo>
                      <a:pt x="911717" y="2627105"/>
                      <a:pt x="324093" y="2373446"/>
                      <a:pt x="44311" y="1866152"/>
                    </a:cubicBezTo>
                    <a:cubicBezTo>
                      <a:pt x="0" y="1786650"/>
                      <a:pt x="1613" y="1689516"/>
                      <a:pt x="48541" y="1611529"/>
                    </a:cubicBezTo>
                    <a:cubicBezTo>
                      <a:pt x="95469" y="1533543"/>
                      <a:pt x="180536" y="1486626"/>
                      <a:pt x="271533" y="1488545"/>
                    </a:cubicBezTo>
                    <a:cubicBezTo>
                      <a:pt x="362530" y="1490464"/>
                      <a:pt x="445545" y="1540924"/>
                      <a:pt x="489144" y="1620819"/>
                    </a:cubicBezTo>
                    <a:cubicBezTo>
                      <a:pt x="657012" y="1925195"/>
                      <a:pt x="1009587" y="2077391"/>
                      <a:pt x="1346226" y="1990795"/>
                    </a:cubicBezTo>
                    <a:cubicBezTo>
                      <a:pt x="1682866" y="1904199"/>
                      <a:pt x="1918235" y="1600762"/>
                      <a:pt x="1918392" y="1253164"/>
                    </a:cubicBezTo>
                    <a:cubicBezTo>
                      <a:pt x="1918549" y="905565"/>
                      <a:pt x="1683453" y="601916"/>
                      <a:pt x="1346892" y="515017"/>
                    </a:cubicBezTo>
                    <a:cubicBezTo>
                      <a:pt x="1258664" y="492657"/>
                      <a:pt x="1189144" y="424799"/>
                      <a:pt x="1164656" y="337138"/>
                    </a:cubicBezTo>
                    <a:cubicBezTo>
                      <a:pt x="1140168" y="249478"/>
                      <a:pt x="1164454" y="155414"/>
                      <a:pt x="1228320" y="90567"/>
                    </a:cubicBezTo>
                    <a:cubicBezTo>
                      <a:pt x="1292186" y="25719"/>
                      <a:pt x="1385868" y="0"/>
                      <a:pt x="1473892" y="23148"/>
                    </a:cubicBezTo>
                    <a:close/>
                  </a:path>
                </a:pathLst>
              </a:custGeom>
              <a:solidFill>
                <a:srgbClr val="FE074C"/>
              </a:solidFill>
            </p:spPr>
          </p:sp>
        </p:grpSp>
      </p:grpSp>
      <p:sp>
        <p:nvSpPr>
          <p:cNvPr id="15" name="TextBox 15"/>
          <p:cNvSpPr txBox="1"/>
          <p:nvPr/>
        </p:nvSpPr>
        <p:spPr>
          <a:xfrm>
            <a:off x="1544576" y="3937521"/>
            <a:ext cx="11565398" cy="4809242"/>
          </a:xfrm>
          <a:prstGeom prst="rect">
            <a:avLst/>
          </a:prstGeom>
        </p:spPr>
        <p:txBody>
          <a:bodyPr lIns="0" tIns="0" rIns="0" bIns="0" rtlCol="0" anchor="t">
            <a:spAutoFit/>
          </a:bodyPr>
          <a:lstStyle/>
          <a:p>
            <a:pPr algn="ctr">
              <a:lnSpc>
                <a:spcPts val="4721"/>
              </a:lnSpc>
              <a:spcBef>
                <a:spcPct val="0"/>
              </a:spcBef>
            </a:pPr>
            <a:r>
              <a:rPr lang="en-US" sz="4292" dirty="0">
                <a:solidFill>
                  <a:srgbClr val="000000"/>
                </a:solidFill>
                <a:latin typeface="Barlow Condensed Bold"/>
              </a:rPr>
              <a:t>CADA TRANSAÇÃO FUNCIONA COMPLETAMENTE A PARTE DE OUTRAS </a:t>
            </a:r>
            <a:r>
              <a:rPr lang="en-US" sz="4292" dirty="0" smtClean="0">
                <a:solidFill>
                  <a:srgbClr val="000000"/>
                </a:solidFill>
                <a:latin typeface="Barlow Condensed Bold"/>
              </a:rPr>
              <a:t>TRANSAÇÕES</a:t>
            </a:r>
            <a:r>
              <a:rPr lang="en-US" sz="4292" dirty="0" smtClean="0">
                <a:solidFill>
                  <a:srgbClr val="000000"/>
                </a:solidFill>
                <a:latin typeface="Barlow Condensed Bold"/>
              </a:rPr>
              <a:t>. </a:t>
            </a:r>
            <a:endParaRPr lang="en-US" sz="4292" dirty="0">
              <a:solidFill>
                <a:srgbClr val="000000"/>
              </a:solidFill>
              <a:latin typeface="Barlow Condensed Bold"/>
            </a:endParaRPr>
          </a:p>
          <a:p>
            <a:pPr algn="ctr">
              <a:lnSpc>
                <a:spcPts val="4721"/>
              </a:lnSpc>
              <a:spcBef>
                <a:spcPct val="0"/>
              </a:spcBef>
            </a:pPr>
            <a:r>
              <a:rPr lang="en-US" sz="4292" dirty="0">
                <a:solidFill>
                  <a:srgbClr val="000000"/>
                </a:solidFill>
                <a:latin typeface="Barlow Condensed Bold"/>
              </a:rPr>
              <a:t>TODAS AS OPERAÇÕES SÃO PARTE DE UMA TRANSAÇÃO ÚNICA.NENHUMA OUTRA TRANSAÇÃO, OPERANDO NO MESMO SISTEMA, PODE INTERFERIR NO FUNCIONAMENTO DA TRANSAÇÃO CORRENTE.OUTRAS TRANSAÇÕES NÃO PODEM VISUALIZAR OS RESULTADOS PARCIAIS DAS OPERAÇÕES DE UMA TRANSAÇÃO EM ANDAMENTO.</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DE5"/>
        </a:solidFill>
        <a:effectLst/>
      </p:bgPr>
    </p:bg>
    <p:spTree>
      <p:nvGrpSpPr>
        <p:cNvPr id="1" name=""/>
        <p:cNvGrpSpPr/>
        <p:nvPr/>
      </p:nvGrpSpPr>
      <p:grpSpPr>
        <a:xfrm>
          <a:off x="0" y="0"/>
          <a:ext cx="0" cy="0"/>
          <a:chOff x="0" y="0"/>
          <a:chExt cx="0" cy="0"/>
        </a:xfrm>
      </p:grpSpPr>
      <p:grpSp>
        <p:nvGrpSpPr>
          <p:cNvPr id="2" name="Group 2"/>
          <p:cNvGrpSpPr/>
          <p:nvPr/>
        </p:nvGrpSpPr>
        <p:grpSpPr>
          <a:xfrm>
            <a:off x="1852089" y="1883227"/>
            <a:ext cx="16084751" cy="7307822"/>
            <a:chOff x="0" y="0"/>
            <a:chExt cx="2507012" cy="1090454"/>
          </a:xfrm>
        </p:grpSpPr>
        <p:sp>
          <p:nvSpPr>
            <p:cNvPr id="3" name="Freeform 3"/>
            <p:cNvSpPr/>
            <p:nvPr/>
          </p:nvSpPr>
          <p:spPr>
            <a:xfrm>
              <a:off x="0" y="0"/>
              <a:ext cx="2507012" cy="1090454"/>
            </a:xfrm>
            <a:custGeom>
              <a:avLst/>
              <a:gdLst/>
              <a:ahLst/>
              <a:cxnLst/>
              <a:rect l="l" t="t" r="r" b="b"/>
              <a:pathLst>
                <a:path w="2507012" h="1090454">
                  <a:moveTo>
                    <a:pt x="23501" y="0"/>
                  </a:moveTo>
                  <a:lnTo>
                    <a:pt x="2483512" y="0"/>
                  </a:lnTo>
                  <a:cubicBezTo>
                    <a:pt x="2496491" y="0"/>
                    <a:pt x="2507012" y="10522"/>
                    <a:pt x="2507012" y="23501"/>
                  </a:cubicBezTo>
                  <a:lnTo>
                    <a:pt x="2507012" y="1066953"/>
                  </a:lnTo>
                  <a:cubicBezTo>
                    <a:pt x="2507012" y="1073186"/>
                    <a:pt x="2504536" y="1079164"/>
                    <a:pt x="2500129" y="1083571"/>
                  </a:cubicBezTo>
                  <a:cubicBezTo>
                    <a:pt x="2495722" y="1087978"/>
                    <a:pt x="2489745" y="1090454"/>
                    <a:pt x="2483512" y="1090454"/>
                  </a:cubicBezTo>
                  <a:lnTo>
                    <a:pt x="23501" y="1090454"/>
                  </a:lnTo>
                  <a:cubicBezTo>
                    <a:pt x="17268" y="1090454"/>
                    <a:pt x="11290" y="1087978"/>
                    <a:pt x="6883" y="1083571"/>
                  </a:cubicBezTo>
                  <a:cubicBezTo>
                    <a:pt x="2476" y="1079164"/>
                    <a:pt x="0" y="1073186"/>
                    <a:pt x="0" y="1066953"/>
                  </a:cubicBezTo>
                  <a:lnTo>
                    <a:pt x="0" y="23501"/>
                  </a:lnTo>
                  <a:cubicBezTo>
                    <a:pt x="0" y="17268"/>
                    <a:pt x="2476" y="11290"/>
                    <a:pt x="6883" y="6883"/>
                  </a:cubicBezTo>
                  <a:cubicBezTo>
                    <a:pt x="11290" y="2476"/>
                    <a:pt x="17268" y="0"/>
                    <a:pt x="23501" y="0"/>
                  </a:cubicBezTo>
                  <a:close/>
                </a:path>
              </a:pathLst>
            </a:custGeom>
            <a:solidFill>
              <a:srgbClr val="FFDE59"/>
            </a:solidFill>
            <a:ln>
              <a:no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grpSp>
        <p:nvGrpSpPr>
          <p:cNvPr id="5" name="Group 5"/>
          <p:cNvGrpSpPr/>
          <p:nvPr/>
        </p:nvGrpSpPr>
        <p:grpSpPr>
          <a:xfrm>
            <a:off x="9144001" y="8433080"/>
            <a:ext cx="8792840" cy="628119"/>
            <a:chOff x="0" y="0"/>
            <a:chExt cx="1563951" cy="93726"/>
          </a:xfrm>
        </p:grpSpPr>
        <p:sp>
          <p:nvSpPr>
            <p:cNvPr id="6" name="Freeform 6"/>
            <p:cNvSpPr/>
            <p:nvPr/>
          </p:nvSpPr>
          <p:spPr>
            <a:xfrm>
              <a:off x="0" y="0"/>
              <a:ext cx="1563951" cy="93726"/>
            </a:xfrm>
            <a:custGeom>
              <a:avLst/>
              <a:gdLst/>
              <a:ahLst/>
              <a:cxnLst/>
              <a:rect l="l" t="t" r="r" b="b"/>
              <a:pathLst>
                <a:path w="1563951" h="93726">
                  <a:moveTo>
                    <a:pt x="15512" y="0"/>
                  </a:moveTo>
                  <a:lnTo>
                    <a:pt x="1548439" y="0"/>
                  </a:lnTo>
                  <a:cubicBezTo>
                    <a:pt x="1552553" y="0"/>
                    <a:pt x="1556498" y="1634"/>
                    <a:pt x="1559407" y="4543"/>
                  </a:cubicBezTo>
                  <a:cubicBezTo>
                    <a:pt x="1562316" y="7452"/>
                    <a:pt x="1563951" y="11398"/>
                    <a:pt x="1563951" y="15512"/>
                  </a:cubicBezTo>
                  <a:lnTo>
                    <a:pt x="1563951" y="78214"/>
                  </a:lnTo>
                  <a:cubicBezTo>
                    <a:pt x="1563951" y="82328"/>
                    <a:pt x="1562316" y="86274"/>
                    <a:pt x="1559407" y="89183"/>
                  </a:cubicBezTo>
                  <a:cubicBezTo>
                    <a:pt x="1556498" y="92092"/>
                    <a:pt x="1552553" y="93726"/>
                    <a:pt x="1548439" y="93726"/>
                  </a:cubicBezTo>
                  <a:lnTo>
                    <a:pt x="15512" y="93726"/>
                  </a:lnTo>
                  <a:cubicBezTo>
                    <a:pt x="11398" y="93726"/>
                    <a:pt x="7452" y="92092"/>
                    <a:pt x="4543" y="89183"/>
                  </a:cubicBezTo>
                  <a:cubicBezTo>
                    <a:pt x="1634" y="86274"/>
                    <a:pt x="0" y="82328"/>
                    <a:pt x="0" y="78214"/>
                  </a:cubicBezTo>
                  <a:lnTo>
                    <a:pt x="0" y="15512"/>
                  </a:lnTo>
                  <a:cubicBezTo>
                    <a:pt x="0" y="11398"/>
                    <a:pt x="1634" y="7452"/>
                    <a:pt x="4543" y="4543"/>
                  </a:cubicBezTo>
                  <a:cubicBezTo>
                    <a:pt x="7452" y="1634"/>
                    <a:pt x="11398" y="0"/>
                    <a:pt x="15512" y="0"/>
                  </a:cubicBezTo>
                  <a:close/>
                </a:path>
              </a:pathLst>
            </a:custGeom>
            <a:solidFill>
              <a:srgbClr val="50E2E3"/>
            </a:solidFill>
            <a:ln>
              <a:noFill/>
            </a:ln>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1400"/>
                </a:lnSpc>
              </a:pPr>
              <a:endParaRPr/>
            </a:p>
          </p:txBody>
        </p:sp>
      </p:grpSp>
      <p:sp>
        <p:nvSpPr>
          <p:cNvPr id="8" name="Freeform 8"/>
          <p:cNvSpPr/>
          <p:nvPr/>
        </p:nvSpPr>
        <p:spPr>
          <a:xfrm rot="-432725">
            <a:off x="-790272" y="-2175347"/>
            <a:ext cx="8531813" cy="11170949"/>
          </a:xfrm>
          <a:custGeom>
            <a:avLst/>
            <a:gdLst/>
            <a:ahLst/>
            <a:cxnLst/>
            <a:rect l="l" t="t" r="r" b="b"/>
            <a:pathLst>
              <a:path w="8531813" h="11170949">
                <a:moveTo>
                  <a:pt x="0" y="0"/>
                </a:moveTo>
                <a:lnTo>
                  <a:pt x="8531813" y="0"/>
                </a:lnTo>
                <a:lnTo>
                  <a:pt x="8531813" y="11170950"/>
                </a:lnTo>
                <a:lnTo>
                  <a:pt x="0" y="11170950"/>
                </a:lnTo>
                <a:lnTo>
                  <a:pt x="0" y="0"/>
                </a:lnTo>
                <a:close/>
              </a:path>
            </a:pathLst>
          </a:custGeom>
          <a:blipFill>
            <a:blip r:embed="rId2" cstate="print">
              <a:extLst>
                <a:ext uri="{96DAC541-7B7A-43D3-8B79-37D633B846F1}">
                  <asvg:svgBlip xmlns="" xmlns:asvg="http://schemas.microsoft.com/office/drawing/2016/SVG/main" r:embed="rId3"/>
                </a:ext>
              </a:extLst>
            </a:blip>
            <a:stretch>
              <a:fillRect/>
            </a:stretch>
          </a:blipFill>
        </p:spPr>
      </p:sp>
      <p:grpSp>
        <p:nvGrpSpPr>
          <p:cNvPr id="9" name="Group 9"/>
          <p:cNvGrpSpPr>
            <a:grpSpLocks noChangeAspect="1"/>
          </p:cNvGrpSpPr>
          <p:nvPr/>
        </p:nvGrpSpPr>
        <p:grpSpPr>
          <a:xfrm>
            <a:off x="702163" y="1675125"/>
            <a:ext cx="4843046" cy="4843046"/>
            <a:chOff x="0" y="0"/>
            <a:chExt cx="12700000" cy="12700000"/>
          </a:xfrm>
        </p:grpSpPr>
        <p:sp>
          <p:nvSpPr>
            <p:cNvPr id="10" name="Freeform 10"/>
            <p:cNvSpPr/>
            <p:nvPr/>
          </p:nvSpPr>
          <p:spPr>
            <a:xfrm>
              <a:off x="-11430" y="857250"/>
              <a:ext cx="13009880" cy="11644630"/>
            </a:xfrm>
            <a:custGeom>
              <a:avLst/>
              <a:gdLst/>
              <a:ahLst/>
              <a:cxnLst/>
              <a:rect l="l" t="t" r="r" b="b"/>
              <a:pathLst>
                <a:path w="13009880" h="11644630">
                  <a:moveTo>
                    <a:pt x="10152380" y="938530"/>
                  </a:moveTo>
                  <a:cubicBezTo>
                    <a:pt x="8962390" y="189230"/>
                    <a:pt x="8643620" y="154940"/>
                    <a:pt x="7245350" y="0"/>
                  </a:cubicBezTo>
                  <a:cubicBezTo>
                    <a:pt x="4039870" y="38100"/>
                    <a:pt x="1441450" y="1889760"/>
                    <a:pt x="435610" y="4933950"/>
                  </a:cubicBezTo>
                  <a:cubicBezTo>
                    <a:pt x="91440" y="5975350"/>
                    <a:pt x="0" y="7139940"/>
                    <a:pt x="403860" y="8159750"/>
                  </a:cubicBezTo>
                  <a:cubicBezTo>
                    <a:pt x="934720" y="9499600"/>
                    <a:pt x="2254250" y="10407650"/>
                    <a:pt x="3648710" y="10773410"/>
                  </a:cubicBezTo>
                  <a:cubicBezTo>
                    <a:pt x="5043170" y="11140440"/>
                    <a:pt x="6578600" y="11644630"/>
                    <a:pt x="8008619" y="11470640"/>
                  </a:cubicBezTo>
                  <a:cubicBezTo>
                    <a:pt x="9123679" y="11334750"/>
                    <a:pt x="10237469" y="10519410"/>
                    <a:pt x="11071860" y="9767570"/>
                  </a:cubicBezTo>
                  <a:cubicBezTo>
                    <a:pt x="11625579" y="9268460"/>
                    <a:pt x="11971019" y="8576310"/>
                    <a:pt x="12202160" y="7867650"/>
                  </a:cubicBezTo>
                  <a:cubicBezTo>
                    <a:pt x="13009880" y="5401310"/>
                    <a:pt x="12348210" y="2322830"/>
                    <a:pt x="10152380" y="938530"/>
                  </a:cubicBezTo>
                  <a:close/>
                </a:path>
              </a:pathLst>
            </a:custGeom>
            <a:solidFill>
              <a:srgbClr val="FF6557"/>
            </a:solidFill>
            <a:ln w="12700">
              <a:solidFill>
                <a:srgbClr val="000000"/>
              </a:solidFill>
            </a:ln>
          </p:spPr>
        </p:sp>
      </p:grpSp>
      <p:sp>
        <p:nvSpPr>
          <p:cNvPr id="11" name="AutoShape 11"/>
          <p:cNvSpPr/>
          <p:nvPr/>
        </p:nvSpPr>
        <p:spPr>
          <a:xfrm>
            <a:off x="9144000" y="4388729"/>
            <a:ext cx="4565736" cy="0"/>
          </a:xfrm>
          <a:prstGeom prst="line">
            <a:avLst/>
          </a:prstGeom>
          <a:ln w="57150" cap="rnd">
            <a:solidFill>
              <a:srgbClr val="FF6557"/>
            </a:solidFill>
            <a:prstDash val="sysDot"/>
            <a:headEnd type="none" w="sm" len="sm"/>
            <a:tailEnd type="none" w="sm" len="sm"/>
          </a:ln>
        </p:spPr>
      </p:sp>
      <p:sp>
        <p:nvSpPr>
          <p:cNvPr id="12" name="TextBox 12"/>
          <p:cNvSpPr txBox="1"/>
          <p:nvPr/>
        </p:nvSpPr>
        <p:spPr>
          <a:xfrm>
            <a:off x="9144000" y="2962796"/>
            <a:ext cx="8477138" cy="894664"/>
          </a:xfrm>
          <a:prstGeom prst="rect">
            <a:avLst/>
          </a:prstGeom>
        </p:spPr>
        <p:txBody>
          <a:bodyPr lIns="0" tIns="0" rIns="0" bIns="0" rtlCol="0" anchor="t">
            <a:spAutoFit/>
          </a:bodyPr>
          <a:lstStyle/>
          <a:p>
            <a:pPr marL="0" lvl="0" indent="0">
              <a:lnSpc>
                <a:spcPts val="6899"/>
              </a:lnSpc>
              <a:spcBef>
                <a:spcPct val="0"/>
              </a:spcBef>
            </a:pPr>
            <a:r>
              <a:rPr lang="en-US" sz="6271">
                <a:solidFill>
                  <a:srgbClr val="353535"/>
                </a:solidFill>
                <a:latin typeface="Barlow Condensed Bold"/>
              </a:rPr>
              <a:t>DURABILIDADE</a:t>
            </a:r>
          </a:p>
        </p:txBody>
      </p:sp>
      <p:sp>
        <p:nvSpPr>
          <p:cNvPr id="13" name="TextBox 13"/>
          <p:cNvSpPr txBox="1"/>
          <p:nvPr/>
        </p:nvSpPr>
        <p:spPr>
          <a:xfrm>
            <a:off x="5189047" y="4592731"/>
            <a:ext cx="12184554" cy="3508869"/>
          </a:xfrm>
          <a:prstGeom prst="rect">
            <a:avLst/>
          </a:prstGeom>
        </p:spPr>
        <p:txBody>
          <a:bodyPr wrap="square" lIns="0" tIns="0" rIns="0" bIns="0" rtlCol="0" anchor="t">
            <a:spAutoFit/>
          </a:bodyPr>
          <a:lstStyle/>
          <a:p>
            <a:pPr algn="ctr">
              <a:lnSpc>
                <a:spcPts val="4598"/>
              </a:lnSpc>
              <a:spcBef>
                <a:spcPct val="0"/>
              </a:spcBef>
            </a:pPr>
            <a:r>
              <a:rPr lang="en-US" sz="4180" dirty="0">
                <a:solidFill>
                  <a:srgbClr val="353535"/>
                </a:solidFill>
                <a:latin typeface="Barlow Condensed Bold"/>
              </a:rPr>
              <a:t>SIGNIFICA QUE OS RESULTADOS DE UMA TRANSAÇÃO SÃO PERMANENTES E SOMENTE PODEM SER DESFEITOS POR UMA TRANSAÇÃO SUBSEQUENTE. </a:t>
            </a:r>
          </a:p>
          <a:p>
            <a:pPr algn="ctr">
              <a:lnSpc>
                <a:spcPts val="4598"/>
              </a:lnSpc>
              <a:spcBef>
                <a:spcPct val="0"/>
              </a:spcBef>
            </a:pPr>
            <a:r>
              <a:rPr lang="en-US" sz="4180" dirty="0">
                <a:solidFill>
                  <a:srgbClr val="353535"/>
                </a:solidFill>
                <a:latin typeface="Barlow Condensed Bold"/>
              </a:rPr>
              <a:t>TODOS OS DADOS E STATUS RELATIVOS A UMA TRANSAÇÃO DEVEM SER ARMAZENADOS NUM REPOSITÓRIO PERMANENTE,NÃO SENDO PASSÍVEIS DE FALHA DE HARDWARE.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TotalTime>
  <Words>226</Words>
  <Application>Microsoft Office PowerPoint</Application>
  <PresentationFormat>Personalizar</PresentationFormat>
  <Paragraphs>22</Paragraphs>
  <Slides>7</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7</vt:i4>
      </vt:variant>
    </vt:vector>
  </HeadingPairs>
  <TitlesOfParts>
    <vt:vector size="12" baseType="lpstr">
      <vt:lpstr>Arial</vt:lpstr>
      <vt:lpstr>Barlow Condensed Bold</vt:lpstr>
      <vt:lpstr>Calibri</vt:lpstr>
      <vt:lpstr>Barlow Condensed</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de brainstorm geométrica colorida</dc:title>
  <cp:lastModifiedBy>monica.araujo</cp:lastModifiedBy>
  <cp:revision>3</cp:revision>
  <dcterms:created xsi:type="dcterms:W3CDTF">2006-08-16T00:00:00Z</dcterms:created>
  <dcterms:modified xsi:type="dcterms:W3CDTF">2023-08-21T19:46:37Z</dcterms:modified>
  <dc:identifier>DAFr76Hde4s</dc:identifier>
</cp:coreProperties>
</file>