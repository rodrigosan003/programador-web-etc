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9"/>
  </p:notesMasterIdLst>
  <p:sldIdLst>
    <p:sldId id="256" r:id="rId2"/>
    <p:sldId id="257" r:id="rId3"/>
    <p:sldId id="258" r:id="rId4"/>
    <p:sldId id="260" r:id="rId5"/>
    <p:sldId id="268" r:id="rId6"/>
    <p:sldId id="261" r:id="rId7"/>
    <p:sldId id="271" r:id="rId8"/>
    <p:sldId id="270" r:id="rId9"/>
    <p:sldId id="272" r:id="rId10"/>
    <p:sldId id="263" r:id="rId11"/>
    <p:sldId id="262" r:id="rId12"/>
    <p:sldId id="259" r:id="rId13"/>
    <p:sldId id="269" r:id="rId14"/>
    <p:sldId id="264" r:id="rId15"/>
    <p:sldId id="265" r:id="rId16"/>
    <p:sldId id="266" r:id="rId17"/>
    <p:sldId id="267" r:id="rId18"/>
  </p:sldIdLst>
  <p:sldSz cx="18288000" cy="10287000"/>
  <p:notesSz cx="6858000" cy="9144000"/>
  <p:embeddedFontLst>
    <p:embeddedFont>
      <p:font typeface="Book Antiqua" panose="02040602050305030304" pitchFamily="18" charset="0"/>
      <p:regular r:id="rId20"/>
      <p:bold r:id="rId21"/>
      <p:italic r:id="rId22"/>
      <p:boldItalic r:id="rId23"/>
    </p:embeddedFont>
    <p:embeddedFont>
      <p:font typeface="Calibri" panose="020F0502020204030204" pitchFamily="34" charset="0"/>
      <p:regular r:id="rId24"/>
      <p:bold r:id="rId25"/>
      <p:italic r:id="rId26"/>
      <p:boldItalic r:id="rId27"/>
    </p:embeddedFont>
    <p:embeddedFont>
      <p:font typeface="Poppins Light" panose="00000400000000000000" pitchFamily="2" charset="0"/>
      <p:regular r:id="rId28"/>
      <p:italic r:id="rId29"/>
    </p:embeddedFont>
    <p:embeddedFont>
      <p:font typeface="Poppins Light Bold" panose="020B0604020202020204" charset="0"/>
      <p:regular r:id="rId30"/>
    </p:embeddedFont>
    <p:embeddedFont>
      <p:font typeface="Poppins Medium" panose="00000600000000000000" pitchFamily="2" charset="0"/>
      <p:regular r:id="rId31"/>
      <p:italic r:id="rId32"/>
    </p:embeddedFont>
    <p:embeddedFont>
      <p:font typeface="Poppins Medium Bold" panose="020B0604020202020204" charset="0"/>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2" d="100"/>
          <a:sy n="42" d="100"/>
        </p:scale>
        <p:origin x="912" y="3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21" Type="http://schemas.openxmlformats.org/officeDocument/2006/relationships/font" Target="fonts/font2.fntdata"/><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font" Target="fonts/font1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font" Target="fonts/font13.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9BA9D9E-17ED-4F4E-B01C-819797B7255F}" type="datetimeFigureOut">
              <a:rPr lang="pt-BR" smtClean="0"/>
              <a:t>09/08/2026</a:t>
            </a:fld>
            <a:endParaRPr lang="pt-BR"/>
          </a:p>
        </p:txBody>
      </p:sp>
      <p:sp>
        <p:nvSpPr>
          <p:cNvPr id="4" name="Espaço Reservado para Imagem de Slide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C79FB57-B068-45B1-BD9C-82035ECC63F8}" type="slidenum">
              <a:rPr lang="pt-BR" smtClean="0"/>
              <a:t>‹nº›</a:t>
            </a:fld>
            <a:endParaRPr lang="pt-B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normAutofit/>
          </a:bodyPr>
          <a:lstStyle/>
          <a:p>
            <a:endParaRPr lang="pt-BR" dirty="0"/>
          </a:p>
        </p:txBody>
      </p:sp>
      <p:sp>
        <p:nvSpPr>
          <p:cNvPr id="4" name="Espaço Reservado para Número de Slide 3"/>
          <p:cNvSpPr>
            <a:spLocks noGrp="1"/>
          </p:cNvSpPr>
          <p:nvPr>
            <p:ph type="sldNum" sz="quarter" idx="10"/>
          </p:nvPr>
        </p:nvSpPr>
        <p:spPr/>
        <p:txBody>
          <a:bodyPr/>
          <a:lstStyle/>
          <a:p>
            <a:fld id="{8C79FB57-B068-45B1-BD9C-82035ECC63F8}" type="slidenum">
              <a:rPr lang="pt-BR" smtClean="0"/>
              <a:t>16</a:t>
            </a:fld>
            <a:endParaRPr lang="pt-B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8/9/2026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8/9/2026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8/9/2026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8/9/2026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91C99"/>
        </a:solidFill>
        <a:effectLst/>
      </p:bgPr>
    </p:bg>
    <p:spTree>
      <p:nvGrpSpPr>
        <p:cNvPr id="1" name=""/>
        <p:cNvGrpSpPr/>
        <p:nvPr/>
      </p:nvGrpSpPr>
      <p:grpSpPr>
        <a:xfrm>
          <a:off x="0" y="0"/>
          <a:ext cx="0" cy="0"/>
          <a:chOff x="0" y="0"/>
          <a:chExt cx="0" cy="0"/>
        </a:xfrm>
      </p:grpSpPr>
      <p:sp>
        <p:nvSpPr>
          <p:cNvPr id="2" name="Freeform 2"/>
          <p:cNvSpPr/>
          <p:nvPr/>
        </p:nvSpPr>
        <p:spPr>
          <a:xfrm>
            <a:off x="10418362" y="580992"/>
            <a:ext cx="11825863" cy="9325040"/>
          </a:xfrm>
          <a:custGeom>
            <a:avLst/>
            <a:gdLst/>
            <a:ahLst/>
            <a:cxnLst/>
            <a:rect l="l" t="t" r="r" b="b"/>
            <a:pathLst>
              <a:path w="11825863" h="9325040">
                <a:moveTo>
                  <a:pt x="0" y="0"/>
                </a:moveTo>
                <a:lnTo>
                  <a:pt x="11825862" y="0"/>
                </a:lnTo>
                <a:lnTo>
                  <a:pt x="11825862" y="9325041"/>
                </a:lnTo>
                <a:lnTo>
                  <a:pt x="0" y="9325041"/>
                </a:lnTo>
                <a:lnTo>
                  <a:pt x="0" y="0"/>
                </a:lnTo>
                <a:close/>
              </a:path>
            </a:pathLst>
          </a:custGeom>
          <a:blipFill>
            <a:blip r:embed="rId2" cstate="print"/>
            <a:stretch>
              <a:fillRect r="-130"/>
            </a:stretch>
          </a:blipFill>
        </p:spPr>
      </p:sp>
      <p:grpSp>
        <p:nvGrpSpPr>
          <p:cNvPr id="3" name="Group 3"/>
          <p:cNvGrpSpPr/>
          <p:nvPr/>
        </p:nvGrpSpPr>
        <p:grpSpPr>
          <a:xfrm>
            <a:off x="1331644" y="3162470"/>
            <a:ext cx="7812356" cy="4009685"/>
            <a:chOff x="0" y="0"/>
            <a:chExt cx="10416475" cy="5346247"/>
          </a:xfrm>
        </p:grpSpPr>
        <p:sp>
          <p:nvSpPr>
            <p:cNvPr id="4" name="TextBox 4"/>
            <p:cNvSpPr txBox="1"/>
            <p:nvPr/>
          </p:nvSpPr>
          <p:spPr>
            <a:xfrm>
              <a:off x="0" y="1001500"/>
              <a:ext cx="10416475" cy="3260725"/>
            </a:xfrm>
            <a:prstGeom prst="rect">
              <a:avLst/>
            </a:prstGeom>
          </p:spPr>
          <p:txBody>
            <a:bodyPr lIns="0" tIns="0" rIns="0" bIns="0" rtlCol="0" anchor="t">
              <a:spAutoFit/>
            </a:bodyPr>
            <a:lstStyle/>
            <a:p>
              <a:pPr>
                <a:lnSpc>
                  <a:spcPts val="9600"/>
                </a:lnSpc>
              </a:pPr>
              <a:r>
                <a:rPr lang="en-US" sz="8000">
                  <a:solidFill>
                    <a:srgbClr val="13DCFF"/>
                  </a:solidFill>
                  <a:latin typeface="Poppins Medium Bold"/>
                </a:rPr>
                <a:t>Modelagem de Dados</a:t>
              </a:r>
            </a:p>
          </p:txBody>
        </p:sp>
        <p:sp>
          <p:nvSpPr>
            <p:cNvPr id="5" name="TextBox 5"/>
            <p:cNvSpPr txBox="1"/>
            <p:nvPr/>
          </p:nvSpPr>
          <p:spPr>
            <a:xfrm>
              <a:off x="0" y="-50800"/>
              <a:ext cx="10416475" cy="525145"/>
            </a:xfrm>
            <a:prstGeom prst="rect">
              <a:avLst/>
            </a:prstGeom>
          </p:spPr>
          <p:txBody>
            <a:bodyPr lIns="0" tIns="0" rIns="0" bIns="0" rtlCol="0" anchor="t">
              <a:spAutoFit/>
            </a:bodyPr>
            <a:lstStyle/>
            <a:p>
              <a:pPr>
                <a:lnSpc>
                  <a:spcPts val="3359"/>
                </a:lnSpc>
              </a:pPr>
              <a:endParaRPr/>
            </a:p>
          </p:txBody>
        </p:sp>
        <p:sp>
          <p:nvSpPr>
            <p:cNvPr id="6" name="TextBox 6"/>
            <p:cNvSpPr txBox="1"/>
            <p:nvPr/>
          </p:nvSpPr>
          <p:spPr>
            <a:xfrm>
              <a:off x="0" y="4676322"/>
              <a:ext cx="10416475" cy="676275"/>
            </a:xfrm>
            <a:prstGeom prst="rect">
              <a:avLst/>
            </a:prstGeom>
          </p:spPr>
          <p:txBody>
            <a:bodyPr lIns="0" tIns="0" rIns="0" bIns="0" rtlCol="0" anchor="t">
              <a:spAutoFit/>
            </a:bodyPr>
            <a:lstStyle/>
            <a:p>
              <a:pPr>
                <a:lnSpc>
                  <a:spcPts val="4200"/>
                </a:lnSpc>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7F6"/>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757362"/>
            <a:ext cx="7826358" cy="1828362"/>
            <a:chOff x="0" y="0"/>
            <a:chExt cx="10435144" cy="2437817"/>
          </a:xfrm>
        </p:grpSpPr>
        <p:sp>
          <p:nvSpPr>
            <p:cNvPr id="3" name="TextBox 3"/>
            <p:cNvSpPr txBox="1"/>
            <p:nvPr/>
          </p:nvSpPr>
          <p:spPr>
            <a:xfrm>
              <a:off x="0" y="0"/>
              <a:ext cx="10435144" cy="1219200"/>
            </a:xfrm>
            <a:prstGeom prst="rect">
              <a:avLst/>
            </a:prstGeom>
          </p:spPr>
          <p:txBody>
            <a:bodyPr lIns="0" tIns="0" rIns="0" bIns="0" rtlCol="0" anchor="t">
              <a:spAutoFit/>
            </a:bodyPr>
            <a:lstStyle/>
            <a:p>
              <a:pPr>
                <a:lnSpc>
                  <a:spcPts val="7230"/>
                </a:lnSpc>
              </a:pPr>
              <a:r>
                <a:rPr lang="en-US" sz="6025">
                  <a:solidFill>
                    <a:srgbClr val="000000"/>
                  </a:solidFill>
                  <a:latin typeface="Poppins Bold Bold"/>
                </a:rPr>
                <a:t>Modelo de Dados</a:t>
              </a:r>
            </a:p>
          </p:txBody>
        </p:sp>
        <p:sp>
          <p:nvSpPr>
            <p:cNvPr id="4" name="TextBox 4"/>
            <p:cNvSpPr txBox="1"/>
            <p:nvPr/>
          </p:nvSpPr>
          <p:spPr>
            <a:xfrm>
              <a:off x="0" y="1713917"/>
              <a:ext cx="10435144" cy="723900"/>
            </a:xfrm>
            <a:prstGeom prst="rect">
              <a:avLst/>
            </a:prstGeom>
          </p:spPr>
          <p:txBody>
            <a:bodyPr lIns="0" tIns="0" rIns="0" bIns="0" rtlCol="0" anchor="t">
              <a:spAutoFit/>
            </a:bodyPr>
            <a:lstStyle/>
            <a:p>
              <a:pPr marL="0" lvl="0" indent="0" algn="ctr">
                <a:lnSpc>
                  <a:spcPts val="4320"/>
                </a:lnSpc>
                <a:spcBef>
                  <a:spcPct val="0"/>
                </a:spcBef>
              </a:pPr>
              <a:endParaRPr/>
            </a:p>
          </p:txBody>
        </p:sp>
      </p:grpSp>
      <p:sp>
        <p:nvSpPr>
          <p:cNvPr id="5" name="Freeform 5"/>
          <p:cNvSpPr/>
          <p:nvPr/>
        </p:nvSpPr>
        <p:spPr>
          <a:xfrm>
            <a:off x="9611142" y="-15477"/>
            <a:ext cx="8676858" cy="5158977"/>
          </a:xfrm>
          <a:custGeom>
            <a:avLst/>
            <a:gdLst/>
            <a:ahLst/>
            <a:cxnLst/>
            <a:rect l="l" t="t" r="r" b="b"/>
            <a:pathLst>
              <a:path w="8676858" h="5158977">
                <a:moveTo>
                  <a:pt x="0" y="0"/>
                </a:moveTo>
                <a:lnTo>
                  <a:pt x="8676858" y="0"/>
                </a:lnTo>
                <a:lnTo>
                  <a:pt x="8676858" y="5158977"/>
                </a:lnTo>
                <a:lnTo>
                  <a:pt x="0" y="5158977"/>
                </a:lnTo>
                <a:lnTo>
                  <a:pt x="0" y="0"/>
                </a:lnTo>
                <a:close/>
              </a:path>
            </a:pathLst>
          </a:custGeom>
          <a:blipFill>
            <a:blip r:embed="rId2" cstate="print"/>
            <a:stretch>
              <a:fillRect t="-47185" r="-2803"/>
            </a:stretch>
          </a:blipFill>
        </p:spPr>
      </p:sp>
      <p:grpSp>
        <p:nvGrpSpPr>
          <p:cNvPr id="6" name="Group 6"/>
          <p:cNvGrpSpPr/>
          <p:nvPr/>
        </p:nvGrpSpPr>
        <p:grpSpPr>
          <a:xfrm>
            <a:off x="816280" y="6014291"/>
            <a:ext cx="4312018" cy="2995987"/>
            <a:chOff x="0" y="0"/>
            <a:chExt cx="5749358" cy="3994649"/>
          </a:xfrm>
        </p:grpSpPr>
        <p:sp>
          <p:nvSpPr>
            <p:cNvPr id="7" name="TextBox 7"/>
            <p:cNvSpPr txBox="1"/>
            <p:nvPr/>
          </p:nvSpPr>
          <p:spPr>
            <a:xfrm>
              <a:off x="0" y="-47625"/>
              <a:ext cx="5749358" cy="559687"/>
            </a:xfrm>
            <a:prstGeom prst="rect">
              <a:avLst/>
            </a:prstGeom>
          </p:spPr>
          <p:txBody>
            <a:bodyPr lIns="0" tIns="0" rIns="0" bIns="0" rtlCol="0" anchor="t">
              <a:spAutoFit/>
            </a:bodyPr>
            <a:lstStyle/>
            <a:p>
              <a:pPr>
                <a:lnSpc>
                  <a:spcPts val="3558"/>
                </a:lnSpc>
              </a:pPr>
              <a:r>
                <a:rPr lang="en-US" sz="2541">
                  <a:solidFill>
                    <a:srgbClr val="000000"/>
                  </a:solidFill>
                  <a:latin typeface="Poppins Medium Bold"/>
                </a:rPr>
                <a:t>Modelo Conceitual</a:t>
              </a:r>
            </a:p>
          </p:txBody>
        </p:sp>
        <p:sp>
          <p:nvSpPr>
            <p:cNvPr id="8" name="TextBox 8"/>
            <p:cNvSpPr txBox="1"/>
            <p:nvPr/>
          </p:nvSpPr>
          <p:spPr>
            <a:xfrm>
              <a:off x="0" y="969264"/>
              <a:ext cx="5749358" cy="3025385"/>
            </a:xfrm>
            <a:prstGeom prst="rect">
              <a:avLst/>
            </a:prstGeom>
          </p:spPr>
          <p:txBody>
            <a:bodyPr lIns="0" tIns="0" rIns="0" bIns="0" rtlCol="0" anchor="t">
              <a:spAutoFit/>
            </a:bodyPr>
            <a:lstStyle/>
            <a:p>
              <a:pPr>
                <a:lnSpc>
                  <a:spcPts val="3050"/>
                </a:lnSpc>
              </a:pPr>
              <a:r>
                <a:rPr lang="en-US" sz="2178">
                  <a:solidFill>
                    <a:srgbClr val="000000"/>
                  </a:solidFill>
                  <a:latin typeface="Poppins Light"/>
                </a:rPr>
                <a:t>Coleção de ferramentas</a:t>
              </a:r>
            </a:p>
            <a:p>
              <a:pPr>
                <a:lnSpc>
                  <a:spcPts val="3050"/>
                </a:lnSpc>
              </a:pPr>
              <a:r>
                <a:rPr lang="en-US" sz="2178">
                  <a:solidFill>
                    <a:srgbClr val="000000"/>
                  </a:solidFill>
                  <a:latin typeface="Poppins Light"/>
                </a:rPr>
                <a:t>conceituais para descrição dos dados e seus relacionamentos, semântica de dados e</a:t>
              </a:r>
            </a:p>
            <a:p>
              <a:pPr>
                <a:lnSpc>
                  <a:spcPts val="3050"/>
                </a:lnSpc>
              </a:pPr>
              <a:r>
                <a:rPr lang="en-US" sz="2178">
                  <a:solidFill>
                    <a:srgbClr val="000000"/>
                  </a:solidFill>
                  <a:latin typeface="Poppins Light"/>
                </a:rPr>
                <a:t>restrições de consistência.</a:t>
              </a:r>
            </a:p>
            <a:p>
              <a:pPr>
                <a:lnSpc>
                  <a:spcPts val="3049"/>
                </a:lnSpc>
              </a:pPr>
              <a:endParaRPr/>
            </a:p>
          </p:txBody>
        </p:sp>
      </p:grpSp>
      <p:grpSp>
        <p:nvGrpSpPr>
          <p:cNvPr id="9" name="Group 9"/>
          <p:cNvGrpSpPr/>
          <p:nvPr/>
        </p:nvGrpSpPr>
        <p:grpSpPr>
          <a:xfrm>
            <a:off x="11794114" y="6014291"/>
            <a:ext cx="4310914" cy="1352767"/>
            <a:chOff x="0" y="0"/>
            <a:chExt cx="5747885" cy="1803689"/>
          </a:xfrm>
        </p:grpSpPr>
        <p:sp>
          <p:nvSpPr>
            <p:cNvPr id="10" name="TextBox 10"/>
            <p:cNvSpPr txBox="1"/>
            <p:nvPr/>
          </p:nvSpPr>
          <p:spPr>
            <a:xfrm>
              <a:off x="0" y="-57150"/>
              <a:ext cx="5747885" cy="621257"/>
            </a:xfrm>
            <a:prstGeom prst="rect">
              <a:avLst/>
            </a:prstGeom>
          </p:spPr>
          <p:txBody>
            <a:bodyPr lIns="0" tIns="0" rIns="0" bIns="0" rtlCol="0" anchor="t">
              <a:spAutoFit/>
            </a:bodyPr>
            <a:lstStyle/>
            <a:p>
              <a:pPr>
                <a:lnSpc>
                  <a:spcPts val="3920"/>
                </a:lnSpc>
              </a:pPr>
              <a:r>
                <a:rPr lang="en-US" sz="2800">
                  <a:solidFill>
                    <a:srgbClr val="000000"/>
                  </a:solidFill>
                  <a:latin typeface="Poppins Medium Bold"/>
                </a:rPr>
                <a:t>Modelo Físico</a:t>
              </a:r>
            </a:p>
          </p:txBody>
        </p:sp>
        <p:sp>
          <p:nvSpPr>
            <p:cNvPr id="11" name="TextBox 11"/>
            <p:cNvSpPr txBox="1"/>
            <p:nvPr/>
          </p:nvSpPr>
          <p:spPr>
            <a:xfrm>
              <a:off x="0" y="1071652"/>
              <a:ext cx="5747885" cy="427764"/>
            </a:xfrm>
            <a:prstGeom prst="rect">
              <a:avLst/>
            </a:prstGeom>
          </p:spPr>
          <p:txBody>
            <a:bodyPr lIns="0" tIns="0" rIns="0" bIns="0" rtlCol="0" anchor="t">
              <a:spAutoFit/>
            </a:bodyPr>
            <a:lstStyle/>
            <a:p>
              <a:pPr>
                <a:lnSpc>
                  <a:spcPts val="2719"/>
                </a:lnSpc>
              </a:pPr>
              <a:r>
                <a:rPr lang="en-US" sz="1942">
                  <a:solidFill>
                    <a:srgbClr val="000000"/>
                  </a:solidFill>
                  <a:latin typeface="Poppins Light"/>
                </a:rPr>
                <a:t>Esquema Físico e implementação</a:t>
              </a:r>
            </a:p>
          </p:txBody>
        </p:sp>
      </p:grpSp>
      <p:grpSp>
        <p:nvGrpSpPr>
          <p:cNvPr id="12" name="Group 12"/>
          <p:cNvGrpSpPr/>
          <p:nvPr/>
        </p:nvGrpSpPr>
        <p:grpSpPr>
          <a:xfrm>
            <a:off x="6108519" y="6014291"/>
            <a:ext cx="4310914" cy="2777227"/>
            <a:chOff x="0" y="0"/>
            <a:chExt cx="5747885" cy="3702969"/>
          </a:xfrm>
        </p:grpSpPr>
        <p:sp>
          <p:nvSpPr>
            <p:cNvPr id="13" name="TextBox 13"/>
            <p:cNvSpPr txBox="1"/>
            <p:nvPr/>
          </p:nvSpPr>
          <p:spPr>
            <a:xfrm>
              <a:off x="0" y="-57150"/>
              <a:ext cx="5747885" cy="621257"/>
            </a:xfrm>
            <a:prstGeom prst="rect">
              <a:avLst/>
            </a:prstGeom>
          </p:spPr>
          <p:txBody>
            <a:bodyPr lIns="0" tIns="0" rIns="0" bIns="0" rtlCol="0" anchor="t">
              <a:spAutoFit/>
            </a:bodyPr>
            <a:lstStyle/>
            <a:p>
              <a:pPr>
                <a:lnSpc>
                  <a:spcPts val="3920"/>
                </a:lnSpc>
              </a:pPr>
              <a:r>
                <a:rPr lang="en-US" sz="2800">
                  <a:solidFill>
                    <a:srgbClr val="000000"/>
                  </a:solidFill>
                  <a:latin typeface="Poppins Medium"/>
                </a:rPr>
                <a:t>Modelo Lógico</a:t>
              </a:r>
            </a:p>
          </p:txBody>
        </p:sp>
        <p:sp>
          <p:nvSpPr>
            <p:cNvPr id="14" name="TextBox 14"/>
            <p:cNvSpPr txBox="1"/>
            <p:nvPr/>
          </p:nvSpPr>
          <p:spPr>
            <a:xfrm>
              <a:off x="0" y="1730586"/>
              <a:ext cx="5747885" cy="1757260"/>
            </a:xfrm>
            <a:prstGeom prst="rect">
              <a:avLst/>
            </a:prstGeom>
          </p:spPr>
          <p:txBody>
            <a:bodyPr lIns="0" tIns="0" rIns="0" bIns="0" rtlCol="0" anchor="t">
              <a:spAutoFit/>
            </a:bodyPr>
            <a:lstStyle/>
            <a:p>
              <a:pPr>
                <a:lnSpc>
                  <a:spcPts val="2638"/>
                </a:lnSpc>
              </a:pPr>
              <a:r>
                <a:rPr lang="en-US" sz="1884">
                  <a:solidFill>
                    <a:srgbClr val="000000"/>
                  </a:solidFill>
                  <a:latin typeface="Poppins Light"/>
                </a:rPr>
                <a:t>Modelo de rede;</a:t>
              </a:r>
            </a:p>
            <a:p>
              <a:pPr>
                <a:lnSpc>
                  <a:spcPts val="2638"/>
                </a:lnSpc>
              </a:pPr>
              <a:r>
                <a:rPr lang="en-US" sz="1884">
                  <a:solidFill>
                    <a:srgbClr val="000000"/>
                  </a:solidFill>
                  <a:latin typeface="Poppins Light"/>
                </a:rPr>
                <a:t>Modelo Hierárquico;</a:t>
              </a:r>
            </a:p>
            <a:p>
              <a:pPr>
                <a:lnSpc>
                  <a:spcPts val="2638"/>
                </a:lnSpc>
              </a:pPr>
              <a:r>
                <a:rPr lang="en-US" sz="1884">
                  <a:solidFill>
                    <a:srgbClr val="000000"/>
                  </a:solidFill>
                  <a:latin typeface="Poppins Light"/>
                </a:rPr>
                <a:t>Modelo Relacional;</a:t>
              </a:r>
            </a:p>
            <a:p>
              <a:pPr>
                <a:lnSpc>
                  <a:spcPts val="2638"/>
                </a:lnSpc>
              </a:pPr>
              <a:r>
                <a:rPr lang="en-US" sz="1884">
                  <a:solidFill>
                    <a:srgbClr val="000000"/>
                  </a:solidFill>
                  <a:latin typeface="Poppins Light"/>
                </a:rPr>
                <a:t>Modelo Orientado a objetos.</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7F6"/>
        </a:solidFill>
        <a:effectLst/>
      </p:bgPr>
    </p:bg>
    <p:spTree>
      <p:nvGrpSpPr>
        <p:cNvPr id="1" name=""/>
        <p:cNvGrpSpPr/>
        <p:nvPr/>
      </p:nvGrpSpPr>
      <p:grpSpPr>
        <a:xfrm>
          <a:off x="0" y="0"/>
          <a:ext cx="0" cy="0"/>
          <a:chOff x="0" y="0"/>
          <a:chExt cx="0" cy="0"/>
        </a:xfrm>
      </p:grpSpPr>
      <p:grpSp>
        <p:nvGrpSpPr>
          <p:cNvPr id="2" name="Group 2"/>
          <p:cNvGrpSpPr/>
          <p:nvPr/>
        </p:nvGrpSpPr>
        <p:grpSpPr>
          <a:xfrm>
            <a:off x="4059585" y="2275396"/>
            <a:ext cx="9457663" cy="7988251"/>
            <a:chOff x="0" y="0"/>
            <a:chExt cx="12610217" cy="10651002"/>
          </a:xfrm>
        </p:grpSpPr>
        <p:sp>
          <p:nvSpPr>
            <p:cNvPr id="3" name="TextBox 3"/>
            <p:cNvSpPr txBox="1"/>
            <p:nvPr/>
          </p:nvSpPr>
          <p:spPr>
            <a:xfrm>
              <a:off x="0" y="9525"/>
              <a:ext cx="11324300" cy="1532478"/>
            </a:xfrm>
            <a:prstGeom prst="rect">
              <a:avLst/>
            </a:prstGeom>
          </p:spPr>
          <p:txBody>
            <a:bodyPr lIns="0" tIns="0" rIns="0" bIns="0" rtlCol="0" anchor="t">
              <a:spAutoFit/>
            </a:bodyPr>
            <a:lstStyle/>
            <a:p>
              <a:pPr>
                <a:lnSpc>
                  <a:spcPts val="9166"/>
                </a:lnSpc>
              </a:pPr>
              <a:r>
                <a:rPr lang="en-US" sz="7638">
                  <a:solidFill>
                    <a:srgbClr val="000000"/>
                  </a:solidFill>
                  <a:latin typeface="Poppins Medium Bold"/>
                </a:rPr>
                <a:t>Mini-mundo</a:t>
              </a:r>
            </a:p>
          </p:txBody>
        </p:sp>
        <p:sp>
          <p:nvSpPr>
            <p:cNvPr id="4" name="TextBox 4"/>
            <p:cNvSpPr txBox="1"/>
            <p:nvPr/>
          </p:nvSpPr>
          <p:spPr>
            <a:xfrm>
              <a:off x="0" y="3903443"/>
              <a:ext cx="12610217" cy="6747559"/>
            </a:xfrm>
            <a:prstGeom prst="rect">
              <a:avLst/>
            </a:prstGeom>
          </p:spPr>
          <p:txBody>
            <a:bodyPr lIns="0" tIns="0" rIns="0" bIns="0" rtlCol="0" anchor="t">
              <a:spAutoFit/>
            </a:bodyPr>
            <a:lstStyle/>
            <a:p>
              <a:pPr>
                <a:lnSpc>
                  <a:spcPts val="4856"/>
                </a:lnSpc>
              </a:pPr>
              <a:endParaRPr/>
            </a:p>
            <a:p>
              <a:pPr>
                <a:lnSpc>
                  <a:spcPts val="5977"/>
                </a:lnSpc>
              </a:pPr>
              <a:r>
                <a:rPr lang="en-US" sz="4269">
                  <a:solidFill>
                    <a:srgbClr val="000000"/>
                  </a:solidFill>
                  <a:latin typeface="Poppins Light"/>
                </a:rPr>
                <a:t>- Entidade;</a:t>
              </a:r>
            </a:p>
            <a:p>
              <a:pPr>
                <a:lnSpc>
                  <a:spcPts val="5977"/>
                </a:lnSpc>
              </a:pPr>
              <a:r>
                <a:rPr lang="en-US" sz="4269">
                  <a:solidFill>
                    <a:srgbClr val="000000"/>
                  </a:solidFill>
                  <a:latin typeface="Poppins Light"/>
                </a:rPr>
                <a:t>- Atributo;</a:t>
              </a:r>
            </a:p>
            <a:p>
              <a:pPr>
                <a:lnSpc>
                  <a:spcPts val="5977"/>
                </a:lnSpc>
              </a:pPr>
              <a:r>
                <a:rPr lang="en-US" sz="4269">
                  <a:solidFill>
                    <a:srgbClr val="000000"/>
                  </a:solidFill>
                  <a:latin typeface="Poppins Light"/>
                </a:rPr>
                <a:t>-Integridade dos dados;</a:t>
              </a:r>
            </a:p>
            <a:p>
              <a:pPr>
                <a:lnSpc>
                  <a:spcPts val="5977"/>
                </a:lnSpc>
              </a:pPr>
              <a:r>
                <a:rPr lang="en-US" sz="4269">
                  <a:solidFill>
                    <a:srgbClr val="000000"/>
                  </a:solidFill>
                  <a:latin typeface="Poppins Light"/>
                </a:rPr>
                <a:t>-Relacionamento</a:t>
              </a:r>
            </a:p>
            <a:p>
              <a:pPr>
                <a:lnSpc>
                  <a:spcPts val="5977"/>
                </a:lnSpc>
              </a:pPr>
              <a:r>
                <a:rPr lang="en-US" sz="4269">
                  <a:solidFill>
                    <a:srgbClr val="000000"/>
                  </a:solidFill>
                  <a:latin typeface="Poppins Light"/>
                </a:rPr>
                <a:t>- Generalização/Especialização; e</a:t>
              </a:r>
            </a:p>
            <a:p>
              <a:pPr>
                <a:lnSpc>
                  <a:spcPts val="5977"/>
                </a:lnSpc>
              </a:pPr>
              <a:r>
                <a:rPr lang="en-US" sz="4269">
                  <a:solidFill>
                    <a:srgbClr val="000000"/>
                  </a:solidFill>
                  <a:latin typeface="Poppins Light"/>
                </a:rPr>
                <a:t>- Entidade Associativa.</a:t>
              </a:r>
            </a:p>
          </p:txBody>
        </p:sp>
      </p:grpSp>
      <p:sp>
        <p:nvSpPr>
          <p:cNvPr id="5" name="Freeform 5"/>
          <p:cNvSpPr/>
          <p:nvPr/>
        </p:nvSpPr>
        <p:spPr>
          <a:xfrm rot="4756361">
            <a:off x="4500796" y="-5647893"/>
            <a:ext cx="7684646" cy="7932733"/>
          </a:xfrm>
          <a:custGeom>
            <a:avLst/>
            <a:gdLst/>
            <a:ahLst/>
            <a:cxnLst/>
            <a:rect l="l" t="t" r="r" b="b"/>
            <a:pathLst>
              <a:path w="7684646" h="7932733">
                <a:moveTo>
                  <a:pt x="0" y="0"/>
                </a:moveTo>
                <a:lnTo>
                  <a:pt x="7684646" y="0"/>
                </a:lnTo>
                <a:lnTo>
                  <a:pt x="7684646" y="7932733"/>
                </a:lnTo>
                <a:lnTo>
                  <a:pt x="0" y="7932733"/>
                </a:lnTo>
                <a:lnTo>
                  <a:pt x="0" y="0"/>
                </a:lnTo>
                <a:close/>
              </a:path>
            </a:pathLst>
          </a:custGeom>
          <a:blipFill>
            <a:blip r:embed="rId2" cstate="print"/>
            <a:stretch>
              <a:fillRect t="-7576" b="-7576"/>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7F6"/>
        </a:solidFill>
        <a:effectLst/>
      </p:bgPr>
    </p:bg>
    <p:spTree>
      <p:nvGrpSpPr>
        <p:cNvPr id="1" name=""/>
        <p:cNvGrpSpPr/>
        <p:nvPr/>
      </p:nvGrpSpPr>
      <p:grpSpPr>
        <a:xfrm>
          <a:off x="0" y="0"/>
          <a:ext cx="0" cy="0"/>
          <a:chOff x="0" y="0"/>
          <a:chExt cx="0" cy="0"/>
        </a:xfrm>
      </p:grpSpPr>
      <p:sp>
        <p:nvSpPr>
          <p:cNvPr id="2" name="Freeform 2"/>
          <p:cNvSpPr/>
          <p:nvPr/>
        </p:nvSpPr>
        <p:spPr>
          <a:xfrm rot="3562681">
            <a:off x="473432" y="1304007"/>
            <a:ext cx="6908395" cy="10182951"/>
          </a:xfrm>
          <a:custGeom>
            <a:avLst/>
            <a:gdLst/>
            <a:ahLst/>
            <a:cxnLst/>
            <a:rect l="l" t="t" r="r" b="b"/>
            <a:pathLst>
              <a:path w="6908395" h="10182951">
                <a:moveTo>
                  <a:pt x="0" y="0"/>
                </a:moveTo>
                <a:lnTo>
                  <a:pt x="6908395" y="0"/>
                </a:lnTo>
                <a:lnTo>
                  <a:pt x="6908395" y="10182950"/>
                </a:lnTo>
                <a:lnTo>
                  <a:pt x="0" y="10182950"/>
                </a:lnTo>
                <a:lnTo>
                  <a:pt x="0" y="0"/>
                </a:lnTo>
                <a:close/>
              </a:path>
            </a:pathLst>
          </a:custGeom>
          <a:blipFill>
            <a:blip r:embed="rId2" cstate="print"/>
            <a:stretch>
              <a:fillRect l="-3155" r="-31793" b="-20069"/>
            </a:stretch>
          </a:blipFill>
        </p:spPr>
      </p:sp>
      <p:sp>
        <p:nvSpPr>
          <p:cNvPr id="3" name="Freeform 3"/>
          <p:cNvSpPr/>
          <p:nvPr/>
        </p:nvSpPr>
        <p:spPr>
          <a:xfrm>
            <a:off x="1646474" y="1705751"/>
            <a:ext cx="15612826" cy="6875498"/>
          </a:xfrm>
          <a:custGeom>
            <a:avLst/>
            <a:gdLst/>
            <a:ahLst/>
            <a:cxnLst/>
            <a:rect l="l" t="t" r="r" b="b"/>
            <a:pathLst>
              <a:path w="15612826" h="6875498">
                <a:moveTo>
                  <a:pt x="0" y="0"/>
                </a:moveTo>
                <a:lnTo>
                  <a:pt x="15612826" y="0"/>
                </a:lnTo>
                <a:lnTo>
                  <a:pt x="15612826" y="6875498"/>
                </a:lnTo>
                <a:lnTo>
                  <a:pt x="0" y="6875498"/>
                </a:lnTo>
                <a:lnTo>
                  <a:pt x="0" y="0"/>
                </a:lnTo>
                <a:close/>
              </a:path>
            </a:pathLst>
          </a:custGeom>
          <a:blipFill>
            <a:blip r:embed="rId3" cstate="print"/>
            <a:stretch>
              <a:fillRect l="-42186" t="-52482" r="-44041" b="-86323"/>
            </a:stretch>
          </a:blipFill>
        </p:spPr>
      </p:sp>
      <p:sp>
        <p:nvSpPr>
          <p:cNvPr id="4" name="TextBox 4"/>
          <p:cNvSpPr txBox="1"/>
          <p:nvPr/>
        </p:nvSpPr>
        <p:spPr>
          <a:xfrm>
            <a:off x="1777295" y="207645"/>
            <a:ext cx="13154669" cy="821055"/>
          </a:xfrm>
          <a:prstGeom prst="rect">
            <a:avLst/>
          </a:prstGeom>
        </p:spPr>
        <p:txBody>
          <a:bodyPr lIns="0" tIns="0" rIns="0" bIns="0" rtlCol="0" anchor="t">
            <a:spAutoFit/>
          </a:bodyPr>
          <a:lstStyle/>
          <a:p>
            <a:pPr algn="ctr">
              <a:lnSpc>
                <a:spcPts val="6719"/>
              </a:lnSpc>
            </a:pPr>
            <a:r>
              <a:rPr lang="en-US" sz="4800">
                <a:solidFill>
                  <a:srgbClr val="000000"/>
                </a:solidFill>
                <a:latin typeface="Poppins Bold Bold"/>
              </a:rPr>
              <a:t>Análise de Dados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ixaDeTexto 1"/>
          <p:cNvSpPr txBox="1"/>
          <p:nvPr/>
        </p:nvSpPr>
        <p:spPr>
          <a:xfrm>
            <a:off x="762000" y="800100"/>
            <a:ext cx="15773400" cy="8463855"/>
          </a:xfrm>
          <a:prstGeom prst="rect">
            <a:avLst/>
          </a:prstGeom>
          <a:noFill/>
        </p:spPr>
        <p:txBody>
          <a:bodyPr wrap="square" rtlCol="0">
            <a:spAutoFit/>
          </a:bodyPr>
          <a:lstStyle/>
          <a:p>
            <a:r>
              <a:rPr lang="pt-BR" sz="3200" dirty="0"/>
              <a:t>Podemos classificar as entidades segundo o motivo de sua existência:</a:t>
            </a:r>
          </a:p>
          <a:p>
            <a:endParaRPr lang="pt-BR" sz="3200" dirty="0"/>
          </a:p>
          <a:p>
            <a:pPr algn="just"/>
            <a:r>
              <a:rPr lang="pt-BR" sz="3200" b="1" dirty="0"/>
              <a:t>Entidades fortes</a:t>
            </a:r>
            <a:r>
              <a:rPr lang="pt-BR" sz="3200" dirty="0"/>
              <a:t>: são aquelas cuja existência independe de outras entidades, ou seja, por si só elas já possuem total sentido de existir. Em um sistema de vendas, a entidade produto, por exemplo, independe de quaisquer outras para existir.</a:t>
            </a:r>
          </a:p>
          <a:p>
            <a:pPr algn="just"/>
            <a:endParaRPr lang="pt-BR" sz="3200" dirty="0"/>
          </a:p>
          <a:p>
            <a:pPr algn="just"/>
            <a:r>
              <a:rPr lang="pt-BR" sz="3200" b="1" dirty="0"/>
              <a:t>Entidades fracas</a:t>
            </a:r>
            <a:r>
              <a:rPr lang="pt-BR" sz="3200" dirty="0"/>
              <a:t>: ao contrário das entidades fortes, as fracas são aquelas que dependem de outras entidades para existirem, pois individualmente elas não fazem sentido. Mantendo o mesmo exemplo, a entidade venda depende da entidade produto, pois uma venda sem itens não tem sentido.</a:t>
            </a:r>
          </a:p>
          <a:p>
            <a:pPr algn="just"/>
            <a:endParaRPr lang="pt-BR" sz="3200" dirty="0"/>
          </a:p>
          <a:p>
            <a:pPr algn="just"/>
            <a:r>
              <a:rPr lang="pt-BR" sz="3200" b="1" dirty="0"/>
              <a:t>Entidades associativas</a:t>
            </a:r>
            <a:r>
              <a:rPr lang="pt-BR" sz="3200" dirty="0"/>
              <a:t>: esse tipo de entidade surge quando há a necessidade de associar uma entidade a um relacionamento existente. Na modelagem Entidade-Relacionamento não é possível que um relacionamento seja associado a uma entidade, então tornamos esse relacionamento uma entidade associativa, que a partir daí poderá se relacionar com outras entidades. </a:t>
            </a:r>
          </a:p>
          <a:p>
            <a:endParaRPr lang="pt-BR" sz="3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7F6"/>
        </a:solidFill>
        <a:effectLst/>
      </p:bgPr>
    </p:bg>
    <p:spTree>
      <p:nvGrpSpPr>
        <p:cNvPr id="1" name=""/>
        <p:cNvGrpSpPr/>
        <p:nvPr/>
      </p:nvGrpSpPr>
      <p:grpSpPr>
        <a:xfrm>
          <a:off x="0" y="0"/>
          <a:ext cx="0" cy="0"/>
          <a:chOff x="0" y="0"/>
          <a:chExt cx="0" cy="0"/>
        </a:xfrm>
      </p:grpSpPr>
      <p:sp>
        <p:nvSpPr>
          <p:cNvPr id="2" name="Freeform 2"/>
          <p:cNvSpPr/>
          <p:nvPr/>
        </p:nvSpPr>
        <p:spPr>
          <a:xfrm rot="3562681">
            <a:off x="549267" y="4431434"/>
            <a:ext cx="4604187" cy="6786556"/>
          </a:xfrm>
          <a:custGeom>
            <a:avLst/>
            <a:gdLst/>
            <a:ahLst/>
            <a:cxnLst/>
            <a:rect l="l" t="t" r="r" b="b"/>
            <a:pathLst>
              <a:path w="4604187" h="6786556">
                <a:moveTo>
                  <a:pt x="0" y="0"/>
                </a:moveTo>
                <a:lnTo>
                  <a:pt x="4604187" y="0"/>
                </a:lnTo>
                <a:lnTo>
                  <a:pt x="4604187" y="6786556"/>
                </a:lnTo>
                <a:lnTo>
                  <a:pt x="0" y="6786556"/>
                </a:lnTo>
                <a:lnTo>
                  <a:pt x="0" y="0"/>
                </a:lnTo>
                <a:close/>
              </a:path>
            </a:pathLst>
          </a:custGeom>
          <a:blipFill>
            <a:blip r:embed="rId2" cstate="print"/>
            <a:stretch>
              <a:fillRect l="-3155" r="-31793" b="-20069"/>
            </a:stretch>
          </a:blipFill>
        </p:spPr>
      </p:sp>
      <p:sp>
        <p:nvSpPr>
          <p:cNvPr id="3" name="TextBox 3"/>
          <p:cNvSpPr txBox="1"/>
          <p:nvPr/>
        </p:nvSpPr>
        <p:spPr>
          <a:xfrm>
            <a:off x="1371600" y="2552700"/>
            <a:ext cx="15344387" cy="2923877"/>
          </a:xfrm>
          <a:prstGeom prst="rect">
            <a:avLst/>
          </a:prstGeom>
        </p:spPr>
        <p:txBody>
          <a:bodyPr lIns="0" tIns="0" rIns="0" bIns="0" rtlCol="0" anchor="t">
            <a:spAutoFit/>
          </a:bodyPr>
          <a:lstStyle/>
          <a:p>
            <a:pPr algn="ctr">
              <a:lnSpc>
                <a:spcPts val="6823"/>
              </a:lnSpc>
            </a:pPr>
            <a:r>
              <a:rPr lang="en-US" sz="4873" dirty="0" err="1">
                <a:solidFill>
                  <a:srgbClr val="000000"/>
                </a:solidFill>
                <a:latin typeface="Poppins Light Bold"/>
              </a:rPr>
              <a:t>Atributos</a:t>
            </a:r>
            <a:endParaRPr lang="en-US" sz="4873" dirty="0">
              <a:solidFill>
                <a:srgbClr val="000000"/>
              </a:solidFill>
              <a:latin typeface="Poppins Light Bold"/>
            </a:endParaRPr>
          </a:p>
          <a:p>
            <a:pPr algn="ctr">
              <a:lnSpc>
                <a:spcPts val="6823"/>
              </a:lnSpc>
            </a:pPr>
            <a:endParaRPr lang="en-US" sz="4873" dirty="0">
              <a:solidFill>
                <a:srgbClr val="000000"/>
              </a:solidFill>
              <a:latin typeface="Poppins Light Bold"/>
            </a:endParaRPr>
          </a:p>
          <a:p>
            <a:pPr algn="ctr">
              <a:lnSpc>
                <a:spcPts val="4555"/>
              </a:lnSpc>
            </a:pPr>
            <a:r>
              <a:rPr lang="en-US" sz="3253" dirty="0">
                <a:solidFill>
                  <a:srgbClr val="000000"/>
                </a:solidFill>
                <a:latin typeface="Poppins Light"/>
              </a:rPr>
              <a:t>São </a:t>
            </a:r>
            <a:r>
              <a:rPr lang="en-US" sz="3253" dirty="0" err="1">
                <a:solidFill>
                  <a:srgbClr val="000000"/>
                </a:solidFill>
                <a:latin typeface="Poppins Light"/>
              </a:rPr>
              <a:t>propriedades</a:t>
            </a:r>
            <a:r>
              <a:rPr lang="en-US" sz="3253" dirty="0">
                <a:solidFill>
                  <a:srgbClr val="000000"/>
                </a:solidFill>
                <a:latin typeface="Poppins Light"/>
              </a:rPr>
              <a:t> das </a:t>
            </a:r>
            <a:r>
              <a:rPr lang="en-US" sz="3253" dirty="0" err="1">
                <a:solidFill>
                  <a:srgbClr val="000000"/>
                </a:solidFill>
                <a:latin typeface="Poppins Light"/>
              </a:rPr>
              <a:t>entidades</a:t>
            </a:r>
            <a:r>
              <a:rPr lang="en-US" sz="3253" dirty="0">
                <a:solidFill>
                  <a:srgbClr val="000000"/>
                </a:solidFill>
                <a:latin typeface="Poppins Light"/>
              </a:rPr>
              <a:t> e </a:t>
            </a:r>
            <a:r>
              <a:rPr lang="en-US" sz="3253" dirty="0" err="1">
                <a:solidFill>
                  <a:srgbClr val="000000"/>
                </a:solidFill>
                <a:latin typeface="Poppins Light"/>
              </a:rPr>
              <a:t>relacionamentos</a:t>
            </a:r>
            <a:r>
              <a:rPr lang="en-US" sz="3253" dirty="0">
                <a:solidFill>
                  <a:srgbClr val="000000"/>
                </a:solidFill>
                <a:latin typeface="Poppins Light"/>
              </a:rPr>
              <a:t>, </a:t>
            </a:r>
            <a:r>
              <a:rPr lang="en-US" sz="3253" dirty="0" err="1">
                <a:solidFill>
                  <a:srgbClr val="000000"/>
                </a:solidFill>
                <a:latin typeface="Poppins Light"/>
              </a:rPr>
              <a:t>representam</a:t>
            </a:r>
            <a:r>
              <a:rPr lang="en-US" sz="3253" dirty="0">
                <a:solidFill>
                  <a:srgbClr val="000000"/>
                </a:solidFill>
                <a:latin typeface="Poppins Light"/>
              </a:rPr>
              <a:t> dados </a:t>
            </a:r>
            <a:r>
              <a:rPr lang="en-US" sz="3253" dirty="0" err="1">
                <a:solidFill>
                  <a:srgbClr val="000000"/>
                </a:solidFill>
                <a:latin typeface="Poppins Light"/>
              </a:rPr>
              <a:t>que</a:t>
            </a:r>
            <a:r>
              <a:rPr lang="en-US" sz="3253" dirty="0">
                <a:solidFill>
                  <a:srgbClr val="000000"/>
                </a:solidFill>
                <a:latin typeface="Poppins Light"/>
              </a:rPr>
              <a:t> </a:t>
            </a:r>
            <a:r>
              <a:rPr lang="en-US" sz="3253" dirty="0" err="1">
                <a:solidFill>
                  <a:srgbClr val="000000"/>
                </a:solidFill>
                <a:latin typeface="Poppins Light"/>
              </a:rPr>
              <a:t>são</a:t>
            </a:r>
            <a:r>
              <a:rPr lang="en-US" sz="3253" dirty="0">
                <a:solidFill>
                  <a:srgbClr val="000000"/>
                </a:solidFill>
                <a:latin typeface="Poppins Light"/>
              </a:rPr>
              <a:t> </a:t>
            </a:r>
            <a:r>
              <a:rPr lang="en-US" sz="3253" dirty="0" err="1">
                <a:solidFill>
                  <a:srgbClr val="000000"/>
                </a:solidFill>
                <a:latin typeface="Poppins Light"/>
              </a:rPr>
              <a:t>armazenados</a:t>
            </a:r>
            <a:r>
              <a:rPr lang="en-US" sz="3253" dirty="0">
                <a:solidFill>
                  <a:srgbClr val="000000"/>
                </a:solidFill>
                <a:latin typeface="Poppins Light"/>
              </a:rPr>
              <a:t> a </a:t>
            </a:r>
            <a:r>
              <a:rPr lang="en-US" sz="3253" dirty="0" err="1">
                <a:solidFill>
                  <a:srgbClr val="000000"/>
                </a:solidFill>
                <a:latin typeface="Poppins Light"/>
              </a:rPr>
              <a:t>respeito</a:t>
            </a:r>
            <a:r>
              <a:rPr lang="en-US" sz="3253" dirty="0">
                <a:solidFill>
                  <a:srgbClr val="000000"/>
                </a:solidFill>
                <a:latin typeface="Poppins Light"/>
              </a:rPr>
              <a:t> dos </a:t>
            </a:r>
            <a:r>
              <a:rPr lang="en-US" sz="3253" dirty="0" err="1">
                <a:solidFill>
                  <a:srgbClr val="000000"/>
                </a:solidFill>
                <a:latin typeface="Poppins Light"/>
              </a:rPr>
              <a:t>objetos</a:t>
            </a:r>
            <a:r>
              <a:rPr lang="en-US" sz="3253" dirty="0">
                <a:solidFill>
                  <a:srgbClr val="000000"/>
                </a:solidFill>
                <a:latin typeface="Poppins Light"/>
              </a:rPr>
              <a:t> </a:t>
            </a:r>
            <a:r>
              <a:rPr lang="en-US" sz="3253" dirty="0" err="1">
                <a:solidFill>
                  <a:srgbClr val="000000"/>
                </a:solidFill>
                <a:latin typeface="Poppins Light"/>
              </a:rPr>
              <a:t>da</a:t>
            </a:r>
            <a:r>
              <a:rPr lang="en-US" sz="3253" dirty="0">
                <a:solidFill>
                  <a:srgbClr val="000000"/>
                </a:solidFill>
                <a:latin typeface="Poppins Light"/>
              </a:rPr>
              <a:t> </a:t>
            </a:r>
            <a:r>
              <a:rPr lang="en-US" sz="3253" dirty="0" err="1">
                <a:solidFill>
                  <a:srgbClr val="000000"/>
                </a:solidFill>
                <a:latin typeface="Poppins Light"/>
              </a:rPr>
              <a:t>realidade</a:t>
            </a:r>
            <a:r>
              <a:rPr lang="en-US" sz="3253" dirty="0">
                <a:solidFill>
                  <a:srgbClr val="000000"/>
                </a:solidFill>
                <a:latin typeface="Poppins Light"/>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7F6"/>
        </a:solidFill>
        <a:effectLst/>
      </p:bgPr>
    </p:bg>
    <p:spTree>
      <p:nvGrpSpPr>
        <p:cNvPr id="1" name=""/>
        <p:cNvGrpSpPr/>
        <p:nvPr/>
      </p:nvGrpSpPr>
      <p:grpSpPr>
        <a:xfrm>
          <a:off x="0" y="0"/>
          <a:ext cx="0" cy="0"/>
          <a:chOff x="0" y="0"/>
          <a:chExt cx="0" cy="0"/>
        </a:xfrm>
      </p:grpSpPr>
      <p:sp>
        <p:nvSpPr>
          <p:cNvPr id="2" name="Freeform 2"/>
          <p:cNvSpPr/>
          <p:nvPr/>
        </p:nvSpPr>
        <p:spPr>
          <a:xfrm rot="3562681">
            <a:off x="549267" y="4431434"/>
            <a:ext cx="4604187" cy="6786556"/>
          </a:xfrm>
          <a:custGeom>
            <a:avLst/>
            <a:gdLst/>
            <a:ahLst/>
            <a:cxnLst/>
            <a:rect l="l" t="t" r="r" b="b"/>
            <a:pathLst>
              <a:path w="4604187" h="6786556">
                <a:moveTo>
                  <a:pt x="0" y="0"/>
                </a:moveTo>
                <a:lnTo>
                  <a:pt x="4604187" y="0"/>
                </a:lnTo>
                <a:lnTo>
                  <a:pt x="4604187" y="6786556"/>
                </a:lnTo>
                <a:lnTo>
                  <a:pt x="0" y="6786556"/>
                </a:lnTo>
                <a:lnTo>
                  <a:pt x="0" y="0"/>
                </a:lnTo>
                <a:close/>
              </a:path>
            </a:pathLst>
          </a:custGeom>
          <a:blipFill>
            <a:blip r:embed="rId2" cstate="print"/>
            <a:stretch>
              <a:fillRect l="-3155" r="-31793" b="-20069"/>
            </a:stretch>
          </a:blipFill>
        </p:spPr>
      </p:sp>
      <p:sp>
        <p:nvSpPr>
          <p:cNvPr id="4" name="Retângulo 3"/>
          <p:cNvSpPr/>
          <p:nvPr/>
        </p:nvSpPr>
        <p:spPr>
          <a:xfrm>
            <a:off x="304800" y="1028700"/>
            <a:ext cx="6019800" cy="5401479"/>
          </a:xfrm>
          <a:prstGeom prst="rect">
            <a:avLst/>
          </a:prstGeom>
        </p:spPr>
        <p:txBody>
          <a:bodyPr wrap="square">
            <a:spAutoFit/>
          </a:bodyPr>
          <a:lstStyle/>
          <a:p>
            <a:pPr algn="ctr">
              <a:lnSpc>
                <a:spcPts val="4555"/>
              </a:lnSpc>
            </a:pPr>
            <a:r>
              <a:rPr lang="en-US" sz="3600" b="1" dirty="0">
                <a:solidFill>
                  <a:srgbClr val="000000"/>
                </a:solidFill>
                <a:latin typeface="Poppins Light"/>
              </a:rPr>
              <a:t>Ex.: </a:t>
            </a:r>
            <a:r>
              <a:rPr lang="en-US" sz="3600" b="1" dirty="0" err="1">
                <a:solidFill>
                  <a:srgbClr val="000000"/>
                </a:solidFill>
                <a:latin typeface="Poppins Light"/>
              </a:rPr>
              <a:t>Atributos</a:t>
            </a:r>
            <a:r>
              <a:rPr lang="en-US" sz="3600" b="1" dirty="0">
                <a:solidFill>
                  <a:srgbClr val="000000"/>
                </a:solidFill>
                <a:latin typeface="Poppins Light"/>
              </a:rPr>
              <a:t> do Café</a:t>
            </a:r>
          </a:p>
          <a:p>
            <a:pPr algn="ctr">
              <a:lnSpc>
                <a:spcPts val="4555"/>
              </a:lnSpc>
            </a:pPr>
            <a:endParaRPr lang="en-US" sz="3600" b="1" dirty="0">
              <a:solidFill>
                <a:srgbClr val="000000"/>
              </a:solidFill>
              <a:latin typeface="Poppins Light"/>
            </a:endParaRPr>
          </a:p>
          <a:p>
            <a:pPr algn="ctr">
              <a:lnSpc>
                <a:spcPts val="4555"/>
              </a:lnSpc>
            </a:pPr>
            <a:r>
              <a:rPr lang="en-US" sz="3600" b="1" dirty="0">
                <a:solidFill>
                  <a:srgbClr val="000000"/>
                </a:solidFill>
                <a:latin typeface="Poppins Light"/>
              </a:rPr>
              <a:t> </a:t>
            </a:r>
            <a:r>
              <a:rPr lang="en-US" sz="3600" b="1" dirty="0" err="1">
                <a:solidFill>
                  <a:srgbClr val="000000"/>
                </a:solidFill>
                <a:latin typeface="Poppins Light"/>
              </a:rPr>
              <a:t>Marca</a:t>
            </a:r>
            <a:r>
              <a:rPr lang="en-US" sz="3600" b="1" dirty="0">
                <a:solidFill>
                  <a:srgbClr val="000000"/>
                </a:solidFill>
                <a:latin typeface="Poppins Light"/>
              </a:rPr>
              <a:t>;</a:t>
            </a:r>
          </a:p>
          <a:p>
            <a:pPr algn="ctr">
              <a:lnSpc>
                <a:spcPts val="4555"/>
              </a:lnSpc>
            </a:pPr>
            <a:endParaRPr lang="en-US" sz="3600" b="1" dirty="0">
              <a:solidFill>
                <a:srgbClr val="000000"/>
              </a:solidFill>
              <a:latin typeface="Poppins Light"/>
            </a:endParaRPr>
          </a:p>
          <a:p>
            <a:pPr algn="ctr">
              <a:lnSpc>
                <a:spcPts val="4555"/>
              </a:lnSpc>
            </a:pPr>
            <a:r>
              <a:rPr lang="en-US" sz="3600" b="1" dirty="0">
                <a:solidFill>
                  <a:srgbClr val="000000"/>
                </a:solidFill>
                <a:latin typeface="Poppins Light"/>
              </a:rPr>
              <a:t> </a:t>
            </a:r>
            <a:r>
              <a:rPr lang="en-US" sz="3600" b="1" dirty="0" err="1">
                <a:solidFill>
                  <a:srgbClr val="000000"/>
                </a:solidFill>
                <a:latin typeface="Poppins Light"/>
              </a:rPr>
              <a:t>Textura</a:t>
            </a:r>
            <a:r>
              <a:rPr lang="en-US" sz="3600" b="1" dirty="0">
                <a:solidFill>
                  <a:srgbClr val="000000"/>
                </a:solidFill>
                <a:latin typeface="Poppins Light"/>
              </a:rPr>
              <a:t>;</a:t>
            </a:r>
          </a:p>
          <a:p>
            <a:pPr algn="ctr">
              <a:lnSpc>
                <a:spcPts val="4555"/>
              </a:lnSpc>
            </a:pPr>
            <a:endParaRPr lang="en-US" sz="3600" b="1" dirty="0">
              <a:solidFill>
                <a:srgbClr val="000000"/>
              </a:solidFill>
              <a:latin typeface="Poppins Light"/>
            </a:endParaRPr>
          </a:p>
          <a:p>
            <a:pPr algn="ctr">
              <a:lnSpc>
                <a:spcPts val="4555"/>
              </a:lnSpc>
            </a:pPr>
            <a:r>
              <a:rPr lang="en-US" sz="3600" b="1" dirty="0">
                <a:solidFill>
                  <a:srgbClr val="000000"/>
                </a:solidFill>
                <a:latin typeface="Poppins Light"/>
              </a:rPr>
              <a:t> </a:t>
            </a:r>
            <a:r>
              <a:rPr lang="en-US" sz="3600" b="1" dirty="0" err="1">
                <a:solidFill>
                  <a:srgbClr val="000000"/>
                </a:solidFill>
                <a:latin typeface="Poppins Light"/>
              </a:rPr>
              <a:t>Cheiro</a:t>
            </a:r>
            <a:r>
              <a:rPr lang="en-US" sz="3600" b="1" dirty="0">
                <a:solidFill>
                  <a:srgbClr val="000000"/>
                </a:solidFill>
                <a:latin typeface="Poppins Light"/>
              </a:rPr>
              <a:t>;</a:t>
            </a:r>
          </a:p>
          <a:p>
            <a:pPr algn="ctr">
              <a:lnSpc>
                <a:spcPts val="4555"/>
              </a:lnSpc>
            </a:pPr>
            <a:endParaRPr lang="en-US" sz="3600" b="1" dirty="0">
              <a:solidFill>
                <a:srgbClr val="000000"/>
              </a:solidFill>
              <a:latin typeface="Poppins Light"/>
            </a:endParaRPr>
          </a:p>
          <a:p>
            <a:pPr algn="ctr">
              <a:lnSpc>
                <a:spcPts val="4555"/>
              </a:lnSpc>
              <a:spcBef>
                <a:spcPct val="0"/>
              </a:spcBef>
            </a:pPr>
            <a:r>
              <a:rPr lang="en-US" sz="3600" b="1" dirty="0">
                <a:solidFill>
                  <a:srgbClr val="000000"/>
                </a:solidFill>
                <a:latin typeface="Poppins Light"/>
              </a:rPr>
              <a:t> </a:t>
            </a:r>
            <a:r>
              <a:rPr lang="en-US" sz="3600" b="1" dirty="0" err="1">
                <a:solidFill>
                  <a:srgbClr val="000000"/>
                </a:solidFill>
                <a:latin typeface="Poppins Light"/>
              </a:rPr>
              <a:t>Cor</a:t>
            </a:r>
            <a:r>
              <a:rPr lang="en-US" sz="3600" b="1" dirty="0">
                <a:solidFill>
                  <a:srgbClr val="000000"/>
                </a:solidFill>
                <a:latin typeface="Poppins Light"/>
              </a:rPr>
              <a:t>;</a:t>
            </a:r>
          </a:p>
        </p:txBody>
      </p:sp>
      <p:pic>
        <p:nvPicPr>
          <p:cNvPr id="5" name="Imagem 4" descr="BD4.png"/>
          <p:cNvPicPr>
            <a:picLocks noChangeAspect="1"/>
          </p:cNvPicPr>
          <p:nvPr/>
        </p:nvPicPr>
        <p:blipFill>
          <a:blip r:embed="rId3" cstate="print"/>
          <a:stretch>
            <a:fillRect/>
          </a:stretch>
        </p:blipFill>
        <p:spPr>
          <a:xfrm>
            <a:off x="7315200" y="1181100"/>
            <a:ext cx="9822616" cy="4953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7F6"/>
        </a:solidFill>
        <a:effectLst/>
      </p:bgPr>
    </p:bg>
    <p:spTree>
      <p:nvGrpSpPr>
        <p:cNvPr id="1" name=""/>
        <p:cNvGrpSpPr/>
        <p:nvPr/>
      </p:nvGrpSpPr>
      <p:grpSpPr>
        <a:xfrm>
          <a:off x="0" y="0"/>
          <a:ext cx="0" cy="0"/>
          <a:chOff x="0" y="0"/>
          <a:chExt cx="0" cy="0"/>
        </a:xfrm>
      </p:grpSpPr>
      <p:sp>
        <p:nvSpPr>
          <p:cNvPr id="2" name="Freeform 2"/>
          <p:cNvSpPr/>
          <p:nvPr/>
        </p:nvSpPr>
        <p:spPr>
          <a:xfrm rot="3562681">
            <a:off x="549267" y="4431434"/>
            <a:ext cx="4604187" cy="6786556"/>
          </a:xfrm>
          <a:custGeom>
            <a:avLst/>
            <a:gdLst/>
            <a:ahLst/>
            <a:cxnLst/>
            <a:rect l="l" t="t" r="r" b="b"/>
            <a:pathLst>
              <a:path w="4604187" h="6786556">
                <a:moveTo>
                  <a:pt x="0" y="0"/>
                </a:moveTo>
                <a:lnTo>
                  <a:pt x="4604187" y="0"/>
                </a:lnTo>
                <a:lnTo>
                  <a:pt x="4604187" y="6786556"/>
                </a:lnTo>
                <a:lnTo>
                  <a:pt x="0" y="6786556"/>
                </a:lnTo>
                <a:lnTo>
                  <a:pt x="0" y="0"/>
                </a:lnTo>
                <a:close/>
              </a:path>
            </a:pathLst>
          </a:custGeom>
          <a:blipFill>
            <a:blip r:embed="rId2" cstate="print"/>
            <a:stretch>
              <a:fillRect l="-3155" r="-31793" b="-20069"/>
            </a:stretch>
          </a:blipFill>
        </p:spPr>
      </p:sp>
      <p:sp>
        <p:nvSpPr>
          <p:cNvPr id="3" name="TextBox 3"/>
          <p:cNvSpPr txBox="1"/>
          <p:nvPr/>
        </p:nvSpPr>
        <p:spPr>
          <a:xfrm>
            <a:off x="1981200" y="419100"/>
            <a:ext cx="5029200" cy="5959324"/>
          </a:xfrm>
          <a:prstGeom prst="rect">
            <a:avLst/>
          </a:prstGeom>
        </p:spPr>
        <p:txBody>
          <a:bodyPr wrap="square" lIns="0" tIns="0" rIns="0" bIns="0" rtlCol="0" anchor="t">
            <a:spAutoFit/>
          </a:bodyPr>
          <a:lstStyle/>
          <a:p>
            <a:pPr algn="ctr">
              <a:lnSpc>
                <a:spcPts val="4555"/>
              </a:lnSpc>
            </a:pPr>
            <a:endParaRPr sz="3200" dirty="0"/>
          </a:p>
          <a:p>
            <a:pPr algn="ctr">
              <a:lnSpc>
                <a:spcPts val="4555"/>
              </a:lnSpc>
            </a:pPr>
            <a:r>
              <a:rPr lang="en-US" sz="4800" dirty="0">
                <a:solidFill>
                  <a:srgbClr val="000000"/>
                </a:solidFill>
                <a:latin typeface="Poppins Light"/>
              </a:rPr>
              <a:t> </a:t>
            </a:r>
            <a:r>
              <a:rPr lang="en-US" sz="4800" b="1" dirty="0">
                <a:solidFill>
                  <a:srgbClr val="000000"/>
                </a:solidFill>
                <a:latin typeface="Poppins Light"/>
              </a:rPr>
              <a:t>Ex.: Pessoa</a:t>
            </a:r>
          </a:p>
          <a:p>
            <a:pPr algn="ctr">
              <a:lnSpc>
                <a:spcPts val="4555"/>
              </a:lnSpc>
            </a:pPr>
            <a:r>
              <a:rPr lang="en-US" sz="4800" b="1" dirty="0">
                <a:solidFill>
                  <a:srgbClr val="000000"/>
                </a:solidFill>
                <a:latin typeface="Poppins Light"/>
              </a:rPr>
              <a:t> </a:t>
            </a:r>
          </a:p>
          <a:p>
            <a:pPr algn="ctr">
              <a:lnSpc>
                <a:spcPts val="4555"/>
              </a:lnSpc>
            </a:pPr>
            <a:r>
              <a:rPr lang="en-US" sz="4800" b="1" dirty="0">
                <a:solidFill>
                  <a:srgbClr val="000000"/>
                </a:solidFill>
                <a:latin typeface="Poppins Light"/>
              </a:rPr>
              <a:t> Nome;</a:t>
            </a:r>
          </a:p>
          <a:p>
            <a:pPr algn="ctr">
              <a:lnSpc>
                <a:spcPts val="4555"/>
              </a:lnSpc>
            </a:pPr>
            <a:endParaRPr lang="en-US" sz="4800" b="1" dirty="0">
              <a:solidFill>
                <a:srgbClr val="000000"/>
              </a:solidFill>
              <a:latin typeface="Poppins Light"/>
            </a:endParaRPr>
          </a:p>
          <a:p>
            <a:pPr algn="ctr">
              <a:lnSpc>
                <a:spcPts val="4555"/>
              </a:lnSpc>
            </a:pPr>
            <a:r>
              <a:rPr lang="en-US" sz="4800" b="1" dirty="0">
                <a:solidFill>
                  <a:srgbClr val="000000"/>
                </a:solidFill>
                <a:latin typeface="Poppins Light"/>
              </a:rPr>
              <a:t> CPF;</a:t>
            </a:r>
          </a:p>
          <a:p>
            <a:pPr algn="ctr">
              <a:lnSpc>
                <a:spcPts val="4555"/>
              </a:lnSpc>
            </a:pPr>
            <a:endParaRPr lang="en-US" sz="4800" b="1" dirty="0">
              <a:solidFill>
                <a:srgbClr val="000000"/>
              </a:solidFill>
              <a:latin typeface="Poppins Light"/>
            </a:endParaRPr>
          </a:p>
          <a:p>
            <a:pPr algn="ctr">
              <a:lnSpc>
                <a:spcPts val="4555"/>
              </a:lnSpc>
            </a:pPr>
            <a:r>
              <a:rPr lang="en-US" sz="4800" b="1" dirty="0">
                <a:solidFill>
                  <a:srgbClr val="000000"/>
                </a:solidFill>
                <a:latin typeface="Poppins Light"/>
              </a:rPr>
              <a:t> TELEFONE;</a:t>
            </a:r>
          </a:p>
          <a:p>
            <a:pPr algn="ctr">
              <a:lnSpc>
                <a:spcPts val="4555"/>
              </a:lnSpc>
            </a:pPr>
            <a:endParaRPr lang="en-US" sz="4800" b="1" dirty="0">
              <a:solidFill>
                <a:srgbClr val="000000"/>
              </a:solidFill>
              <a:latin typeface="Poppins Light"/>
            </a:endParaRPr>
          </a:p>
          <a:p>
            <a:pPr algn="ctr">
              <a:lnSpc>
                <a:spcPts val="4555"/>
              </a:lnSpc>
              <a:spcBef>
                <a:spcPct val="0"/>
              </a:spcBef>
            </a:pPr>
            <a:r>
              <a:rPr lang="en-US" sz="4800" b="1" dirty="0">
                <a:solidFill>
                  <a:srgbClr val="000000"/>
                </a:solidFill>
                <a:latin typeface="Poppins Light"/>
              </a:rPr>
              <a:t> ENDEREÇO;</a:t>
            </a:r>
          </a:p>
        </p:txBody>
      </p:sp>
      <p:pic>
        <p:nvPicPr>
          <p:cNvPr id="4" name="Imagem 3" descr="BD3.png"/>
          <p:cNvPicPr>
            <a:picLocks noChangeAspect="1"/>
          </p:cNvPicPr>
          <p:nvPr/>
        </p:nvPicPr>
        <p:blipFill>
          <a:blip r:embed="rId3" cstate="print"/>
          <a:stretch>
            <a:fillRect/>
          </a:stretch>
        </p:blipFill>
        <p:spPr>
          <a:xfrm>
            <a:off x="8229600" y="1638300"/>
            <a:ext cx="8492068" cy="51816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7F6"/>
        </a:solidFill>
        <a:effectLst/>
      </p:bgPr>
    </p:bg>
    <p:spTree>
      <p:nvGrpSpPr>
        <p:cNvPr id="1" name=""/>
        <p:cNvGrpSpPr/>
        <p:nvPr/>
      </p:nvGrpSpPr>
      <p:grpSpPr>
        <a:xfrm>
          <a:off x="0" y="0"/>
          <a:ext cx="0" cy="0"/>
          <a:chOff x="0" y="0"/>
          <a:chExt cx="0" cy="0"/>
        </a:xfrm>
      </p:grpSpPr>
      <p:sp>
        <p:nvSpPr>
          <p:cNvPr id="2" name="Freeform 2"/>
          <p:cNvSpPr/>
          <p:nvPr/>
        </p:nvSpPr>
        <p:spPr>
          <a:xfrm rot="3562681">
            <a:off x="549267" y="4431434"/>
            <a:ext cx="4604187" cy="6786556"/>
          </a:xfrm>
          <a:custGeom>
            <a:avLst/>
            <a:gdLst/>
            <a:ahLst/>
            <a:cxnLst/>
            <a:rect l="l" t="t" r="r" b="b"/>
            <a:pathLst>
              <a:path w="4604187" h="6786556">
                <a:moveTo>
                  <a:pt x="0" y="0"/>
                </a:moveTo>
                <a:lnTo>
                  <a:pt x="4604187" y="0"/>
                </a:lnTo>
                <a:lnTo>
                  <a:pt x="4604187" y="6786556"/>
                </a:lnTo>
                <a:lnTo>
                  <a:pt x="0" y="6786556"/>
                </a:lnTo>
                <a:lnTo>
                  <a:pt x="0" y="0"/>
                </a:lnTo>
                <a:close/>
              </a:path>
            </a:pathLst>
          </a:custGeom>
          <a:blipFill>
            <a:blip r:embed="rId2" cstate="print"/>
            <a:stretch>
              <a:fillRect l="-3155" r="-31793" b="-20069"/>
            </a:stretch>
          </a:blipFill>
        </p:spPr>
      </p:sp>
      <p:sp>
        <p:nvSpPr>
          <p:cNvPr id="3" name="TextBox 3"/>
          <p:cNvSpPr txBox="1"/>
          <p:nvPr/>
        </p:nvSpPr>
        <p:spPr>
          <a:xfrm>
            <a:off x="990600" y="266700"/>
            <a:ext cx="7620000" cy="7668766"/>
          </a:xfrm>
          <a:prstGeom prst="rect">
            <a:avLst/>
          </a:prstGeom>
        </p:spPr>
        <p:txBody>
          <a:bodyPr wrap="square" lIns="0" tIns="0" rIns="0" bIns="0" rtlCol="0" anchor="t">
            <a:spAutoFit/>
          </a:bodyPr>
          <a:lstStyle/>
          <a:p>
            <a:pPr algn="ctr">
              <a:lnSpc>
                <a:spcPts val="4555"/>
              </a:lnSpc>
            </a:pPr>
            <a:endParaRPr sz="2400" b="1" dirty="0"/>
          </a:p>
          <a:p>
            <a:pPr>
              <a:lnSpc>
                <a:spcPts val="4555"/>
              </a:lnSpc>
            </a:pPr>
            <a:r>
              <a:rPr lang="en-US" sz="4000" b="1" dirty="0">
                <a:solidFill>
                  <a:srgbClr val="000000"/>
                </a:solidFill>
                <a:latin typeface="Poppins Light"/>
              </a:rPr>
              <a:t> Ex.: </a:t>
            </a:r>
            <a:r>
              <a:rPr lang="en-US" sz="4000" b="1" dirty="0" err="1">
                <a:solidFill>
                  <a:srgbClr val="000000"/>
                </a:solidFill>
                <a:latin typeface="Poppins Light"/>
              </a:rPr>
              <a:t>Fenômenos</a:t>
            </a:r>
            <a:r>
              <a:rPr lang="en-US" sz="4000" b="1" dirty="0">
                <a:solidFill>
                  <a:srgbClr val="000000"/>
                </a:solidFill>
                <a:latin typeface="Poppins Light"/>
              </a:rPr>
              <a:t> </a:t>
            </a:r>
            <a:r>
              <a:rPr lang="en-US" sz="4000" b="1" dirty="0" err="1">
                <a:solidFill>
                  <a:srgbClr val="000000"/>
                </a:solidFill>
                <a:latin typeface="Poppins Light"/>
              </a:rPr>
              <a:t>da</a:t>
            </a:r>
            <a:r>
              <a:rPr lang="en-US" sz="4000" b="1" dirty="0">
                <a:solidFill>
                  <a:srgbClr val="000000"/>
                </a:solidFill>
                <a:latin typeface="Poppins Light"/>
              </a:rPr>
              <a:t> </a:t>
            </a:r>
            <a:r>
              <a:rPr lang="en-US" sz="4000" b="1" dirty="0" err="1">
                <a:solidFill>
                  <a:srgbClr val="000000"/>
                </a:solidFill>
                <a:latin typeface="Poppins Light"/>
              </a:rPr>
              <a:t>Natureza</a:t>
            </a:r>
            <a:endParaRPr lang="en-US" sz="4000" b="1" dirty="0">
              <a:solidFill>
                <a:srgbClr val="000000"/>
              </a:solidFill>
              <a:latin typeface="Poppins Light"/>
            </a:endParaRPr>
          </a:p>
          <a:p>
            <a:pPr>
              <a:lnSpc>
                <a:spcPts val="4555"/>
              </a:lnSpc>
            </a:pPr>
            <a:endParaRPr lang="en-US" sz="4000" b="1" dirty="0">
              <a:solidFill>
                <a:srgbClr val="000000"/>
              </a:solidFill>
              <a:latin typeface="Poppins Light"/>
            </a:endParaRPr>
          </a:p>
          <a:p>
            <a:pPr>
              <a:lnSpc>
                <a:spcPts val="4555"/>
              </a:lnSpc>
            </a:pPr>
            <a:r>
              <a:rPr lang="en-US" sz="4000" b="1" dirty="0" err="1">
                <a:solidFill>
                  <a:srgbClr val="000000"/>
                </a:solidFill>
                <a:latin typeface="Poppins Light"/>
              </a:rPr>
              <a:t>Tipo</a:t>
            </a:r>
            <a:r>
              <a:rPr lang="en-US" sz="4000" b="1" dirty="0">
                <a:solidFill>
                  <a:srgbClr val="000000"/>
                </a:solidFill>
                <a:latin typeface="Poppins Light"/>
              </a:rPr>
              <a:t>;</a:t>
            </a:r>
          </a:p>
          <a:p>
            <a:pPr>
              <a:lnSpc>
                <a:spcPts val="4555"/>
              </a:lnSpc>
            </a:pPr>
            <a:endParaRPr lang="en-US" sz="4000" b="1" dirty="0">
              <a:solidFill>
                <a:srgbClr val="000000"/>
              </a:solidFill>
              <a:latin typeface="Poppins Light"/>
            </a:endParaRPr>
          </a:p>
          <a:p>
            <a:pPr>
              <a:lnSpc>
                <a:spcPts val="4555"/>
              </a:lnSpc>
            </a:pPr>
            <a:r>
              <a:rPr lang="en-US" sz="4000" b="1" dirty="0" err="1">
                <a:solidFill>
                  <a:srgbClr val="000000"/>
                </a:solidFill>
                <a:latin typeface="Poppins Light"/>
              </a:rPr>
              <a:t>Velocidade</a:t>
            </a:r>
            <a:r>
              <a:rPr lang="en-US" sz="4000" b="1" dirty="0">
                <a:solidFill>
                  <a:srgbClr val="000000"/>
                </a:solidFill>
                <a:latin typeface="Poppins Light"/>
              </a:rPr>
              <a:t>;</a:t>
            </a:r>
          </a:p>
          <a:p>
            <a:pPr>
              <a:lnSpc>
                <a:spcPts val="4555"/>
              </a:lnSpc>
            </a:pPr>
            <a:endParaRPr lang="en-US" sz="4000" b="1" dirty="0">
              <a:solidFill>
                <a:srgbClr val="000000"/>
              </a:solidFill>
              <a:latin typeface="Poppins Light"/>
            </a:endParaRPr>
          </a:p>
          <a:p>
            <a:pPr>
              <a:lnSpc>
                <a:spcPts val="4555"/>
              </a:lnSpc>
            </a:pPr>
            <a:r>
              <a:rPr lang="en-US" sz="4000" b="1" dirty="0">
                <a:solidFill>
                  <a:srgbClr val="000000"/>
                </a:solidFill>
                <a:latin typeface="Poppins Light"/>
              </a:rPr>
              <a:t>Amplitude;</a:t>
            </a:r>
          </a:p>
          <a:p>
            <a:pPr>
              <a:lnSpc>
                <a:spcPts val="4555"/>
              </a:lnSpc>
            </a:pPr>
            <a:endParaRPr lang="en-US" sz="4000" b="1" dirty="0">
              <a:solidFill>
                <a:srgbClr val="000000"/>
              </a:solidFill>
              <a:latin typeface="Poppins Light"/>
            </a:endParaRPr>
          </a:p>
          <a:p>
            <a:pPr>
              <a:lnSpc>
                <a:spcPts val="4555"/>
              </a:lnSpc>
            </a:pPr>
            <a:r>
              <a:rPr lang="en-US" sz="4000" b="1" dirty="0" err="1">
                <a:solidFill>
                  <a:srgbClr val="000000"/>
                </a:solidFill>
                <a:latin typeface="Poppins Light"/>
              </a:rPr>
              <a:t>Hora-início</a:t>
            </a:r>
            <a:r>
              <a:rPr lang="en-US" sz="4000" b="1" dirty="0">
                <a:solidFill>
                  <a:srgbClr val="000000"/>
                </a:solidFill>
                <a:latin typeface="Poppins Light"/>
              </a:rPr>
              <a:t>;</a:t>
            </a:r>
          </a:p>
          <a:p>
            <a:pPr>
              <a:lnSpc>
                <a:spcPts val="4555"/>
              </a:lnSpc>
            </a:pPr>
            <a:endParaRPr lang="en-US" sz="4000" b="1" dirty="0">
              <a:solidFill>
                <a:srgbClr val="000000"/>
              </a:solidFill>
              <a:latin typeface="Poppins Light"/>
            </a:endParaRPr>
          </a:p>
          <a:p>
            <a:pPr>
              <a:lnSpc>
                <a:spcPts val="4555"/>
              </a:lnSpc>
            </a:pPr>
            <a:r>
              <a:rPr lang="en-US" sz="4000" b="1" dirty="0" err="1">
                <a:solidFill>
                  <a:srgbClr val="000000"/>
                </a:solidFill>
                <a:latin typeface="Poppins Light"/>
              </a:rPr>
              <a:t>Hora-término</a:t>
            </a:r>
            <a:r>
              <a:rPr lang="en-US" sz="4000" b="1" dirty="0">
                <a:solidFill>
                  <a:srgbClr val="000000"/>
                </a:solidFill>
                <a:latin typeface="Poppins Light"/>
              </a:rPr>
              <a:t>.</a:t>
            </a:r>
          </a:p>
          <a:p>
            <a:pPr algn="ctr">
              <a:lnSpc>
                <a:spcPts val="4555"/>
              </a:lnSpc>
            </a:pPr>
            <a:endParaRPr lang="en-US" sz="4000" b="1" dirty="0">
              <a:solidFill>
                <a:srgbClr val="000000"/>
              </a:solidFill>
              <a:latin typeface="Poppins Light"/>
            </a:endParaRPr>
          </a:p>
        </p:txBody>
      </p:sp>
      <p:pic>
        <p:nvPicPr>
          <p:cNvPr id="5" name="Imagem 4" descr="BD5.png"/>
          <p:cNvPicPr>
            <a:picLocks noChangeAspect="1"/>
          </p:cNvPicPr>
          <p:nvPr/>
        </p:nvPicPr>
        <p:blipFill>
          <a:blip r:embed="rId3" cstate="print"/>
          <a:stretch>
            <a:fillRect/>
          </a:stretch>
        </p:blipFill>
        <p:spPr>
          <a:xfrm>
            <a:off x="7772400" y="1562100"/>
            <a:ext cx="9525000" cy="730059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p:cNvSpPr/>
          <p:nvPr/>
        </p:nvSpPr>
        <p:spPr>
          <a:xfrm>
            <a:off x="1524000" y="571500"/>
            <a:ext cx="13944600" cy="7909858"/>
          </a:xfrm>
          <a:prstGeom prst="rect">
            <a:avLst/>
          </a:prstGeom>
        </p:spPr>
        <p:txBody>
          <a:bodyPr wrap="square">
            <a:spAutoFit/>
          </a:bodyPr>
          <a:lstStyle/>
          <a:p>
            <a:r>
              <a:rPr lang="pt-BR" sz="4000" b="1" dirty="0">
                <a:solidFill>
                  <a:srgbClr val="FF0000"/>
                </a:solidFill>
                <a:effectLst>
                  <a:outerShdw blurRad="38100" dist="38100" dir="2700000" algn="tl">
                    <a:srgbClr val="000000">
                      <a:alpha val="43137"/>
                    </a:srgbClr>
                  </a:outerShdw>
                </a:effectLst>
              </a:rPr>
              <a:t>Classificação dos Atributos:</a:t>
            </a:r>
            <a:br>
              <a:rPr lang="pt-BR" sz="3600" b="1" dirty="0">
                <a:solidFill>
                  <a:schemeClr val="bg1"/>
                </a:solidFill>
                <a:effectLst>
                  <a:outerShdw blurRad="38100" dist="38100" dir="2700000" algn="tl">
                    <a:srgbClr val="000000">
                      <a:alpha val="43137"/>
                    </a:srgbClr>
                  </a:outerShdw>
                </a:effectLst>
              </a:rPr>
            </a:br>
            <a:br>
              <a:rPr lang="pt-BR" sz="3600" b="1" dirty="0">
                <a:solidFill>
                  <a:schemeClr val="bg1"/>
                </a:solidFill>
                <a:effectLst>
                  <a:outerShdw blurRad="38100" dist="38100" dir="2700000" algn="tl">
                    <a:srgbClr val="000000">
                      <a:alpha val="43137"/>
                    </a:srgbClr>
                  </a:outerShdw>
                </a:effectLst>
              </a:rPr>
            </a:br>
            <a:r>
              <a:rPr lang="pt-BR" sz="3600" b="1" dirty="0">
                <a:solidFill>
                  <a:srgbClr val="0070C0"/>
                </a:solidFill>
                <a:effectLst>
                  <a:outerShdw blurRad="38100" dist="38100" dir="2700000" algn="tl">
                    <a:srgbClr val="000000">
                      <a:alpha val="43137"/>
                    </a:srgbClr>
                  </a:outerShdw>
                </a:effectLst>
              </a:rPr>
              <a:t>Simples:</a:t>
            </a:r>
            <a:r>
              <a:rPr lang="pt-BR" sz="3600" b="1" dirty="0">
                <a:effectLst>
                  <a:outerShdw blurRad="38100" dist="38100" dir="2700000" algn="tl">
                    <a:srgbClr val="000000">
                      <a:alpha val="43137"/>
                    </a:srgbClr>
                  </a:outerShdw>
                </a:effectLst>
              </a:rPr>
              <a:t> É o atributo indivisível, que não pode e não deve ser decomposto; </a:t>
            </a:r>
            <a:br>
              <a:rPr lang="pt-BR" sz="3600" b="1" dirty="0">
                <a:effectLst>
                  <a:outerShdw blurRad="38100" dist="38100" dir="2700000" algn="tl">
                    <a:srgbClr val="000000">
                      <a:alpha val="43137"/>
                    </a:srgbClr>
                  </a:outerShdw>
                </a:effectLst>
              </a:rPr>
            </a:br>
            <a:r>
              <a:rPr lang="pt-BR" sz="3600" b="1" dirty="0">
                <a:solidFill>
                  <a:srgbClr val="0070C0"/>
                </a:solidFill>
                <a:effectLst>
                  <a:outerShdw blurRad="38100" dist="38100" dir="2700000" algn="tl">
                    <a:srgbClr val="000000">
                      <a:alpha val="43137"/>
                    </a:srgbClr>
                  </a:outerShdw>
                </a:effectLst>
              </a:rPr>
              <a:t>Composto: </a:t>
            </a:r>
            <a:r>
              <a:rPr lang="pt-BR" sz="3600" b="1" dirty="0">
                <a:effectLst>
                  <a:outerShdw blurRad="38100" dist="38100" dir="2700000" algn="tl">
                    <a:srgbClr val="000000">
                      <a:alpha val="43137"/>
                    </a:srgbClr>
                  </a:outerShdw>
                </a:effectLst>
              </a:rPr>
              <a:t>É o atributo que pode ser decomposto em outros atributos simples.;</a:t>
            </a:r>
            <a:br>
              <a:rPr lang="pt-BR" sz="3600" b="1" dirty="0">
                <a:effectLst>
                  <a:outerShdw blurRad="38100" dist="38100" dir="2700000" algn="tl">
                    <a:srgbClr val="000000">
                      <a:alpha val="43137"/>
                    </a:srgbClr>
                  </a:outerShdw>
                </a:effectLst>
              </a:rPr>
            </a:br>
            <a:r>
              <a:rPr lang="pt-BR" sz="3600" b="1" dirty="0">
                <a:solidFill>
                  <a:srgbClr val="0070C0"/>
                </a:solidFill>
                <a:effectLst>
                  <a:outerShdw blurRad="38100" dist="38100" dir="2700000" algn="tl">
                    <a:srgbClr val="000000">
                      <a:alpha val="43137"/>
                    </a:srgbClr>
                  </a:outerShdw>
                </a:effectLst>
              </a:rPr>
              <a:t>Monovalorado: </a:t>
            </a:r>
            <a:r>
              <a:rPr lang="pt-BR" sz="3600" b="1" dirty="0">
                <a:effectLst>
                  <a:outerShdw blurRad="38100" dist="38100" dir="2700000" algn="tl">
                    <a:srgbClr val="000000">
                      <a:alpha val="43137"/>
                    </a:srgbClr>
                  </a:outerShdw>
                </a:effectLst>
              </a:rPr>
              <a:t>É o atributo que permite apenas o armazenamento de um valor;</a:t>
            </a:r>
            <a:br>
              <a:rPr lang="pt-BR" sz="3600" b="1" dirty="0">
                <a:effectLst>
                  <a:outerShdw blurRad="38100" dist="38100" dir="2700000" algn="tl">
                    <a:srgbClr val="000000">
                      <a:alpha val="43137"/>
                    </a:srgbClr>
                  </a:outerShdw>
                </a:effectLst>
              </a:rPr>
            </a:br>
            <a:r>
              <a:rPr lang="pt-BR" sz="3600" b="1" dirty="0">
                <a:solidFill>
                  <a:srgbClr val="0070C0"/>
                </a:solidFill>
                <a:effectLst>
                  <a:outerShdw blurRad="38100" dist="38100" dir="2700000" algn="tl">
                    <a:srgbClr val="000000">
                      <a:alpha val="43137"/>
                    </a:srgbClr>
                  </a:outerShdw>
                </a:effectLst>
              </a:rPr>
              <a:t>Multivalorado: </a:t>
            </a:r>
            <a:r>
              <a:rPr lang="pt-BR" sz="3600" b="1" dirty="0">
                <a:effectLst>
                  <a:outerShdw blurRad="38100" dist="38100" dir="2700000" algn="tl">
                    <a:srgbClr val="000000">
                      <a:alpha val="43137"/>
                    </a:srgbClr>
                  </a:outerShdw>
                </a:effectLst>
              </a:rPr>
              <a:t>É o atributo que permite que seja armazenado mais de um valor;</a:t>
            </a:r>
            <a:br>
              <a:rPr lang="pt-BR" sz="3600" b="1" dirty="0">
                <a:effectLst>
                  <a:outerShdw blurRad="38100" dist="38100" dir="2700000" algn="tl">
                    <a:srgbClr val="000000">
                      <a:alpha val="43137"/>
                    </a:srgbClr>
                  </a:outerShdw>
                </a:effectLst>
              </a:rPr>
            </a:br>
            <a:r>
              <a:rPr lang="pt-BR" sz="3600" b="1" dirty="0">
                <a:solidFill>
                  <a:srgbClr val="0070C0"/>
                </a:solidFill>
                <a:effectLst>
                  <a:outerShdw blurRad="38100" dist="38100" dir="2700000" algn="tl">
                    <a:srgbClr val="000000">
                      <a:alpha val="43137"/>
                    </a:srgbClr>
                  </a:outerShdw>
                </a:effectLst>
              </a:rPr>
              <a:t>Nulo: </a:t>
            </a:r>
            <a:r>
              <a:rPr lang="pt-BR" sz="3600" b="1" dirty="0">
                <a:effectLst>
                  <a:outerShdw blurRad="38100" dist="38100" dir="2700000" algn="tl">
                    <a:srgbClr val="000000">
                      <a:alpha val="43137"/>
                    </a:srgbClr>
                  </a:outerShdw>
                </a:effectLst>
              </a:rPr>
              <a:t>É o atributo que permite que seja inserido um valor nulo para ele. Valor nulo representa a inexistência de um valor, significa que o usuário não precisa cadastrar o atributo e pode deixá-lo vazio.;</a:t>
            </a:r>
            <a:br>
              <a:rPr lang="pt-BR" sz="3600" b="1" dirty="0">
                <a:effectLst>
                  <a:outerShdw blurRad="38100" dist="38100" dir="2700000" algn="tl">
                    <a:srgbClr val="000000">
                      <a:alpha val="43137"/>
                    </a:srgbClr>
                  </a:outerShdw>
                </a:effectLst>
              </a:rPr>
            </a:br>
            <a:r>
              <a:rPr lang="pt-BR" sz="3600" b="1" dirty="0">
                <a:solidFill>
                  <a:srgbClr val="0070C0"/>
                </a:solidFill>
                <a:effectLst>
                  <a:outerShdw blurRad="38100" dist="38100" dir="2700000" algn="tl">
                    <a:srgbClr val="000000">
                      <a:alpha val="43137"/>
                    </a:srgbClr>
                  </a:outerShdw>
                </a:effectLst>
              </a:rPr>
              <a:t>Derivado: </a:t>
            </a:r>
            <a:r>
              <a:rPr lang="pt-BR" sz="3600" b="1" dirty="0">
                <a:effectLst>
                  <a:outerShdw blurRad="38100" dist="38100" dir="2700000" algn="tl">
                    <a:srgbClr val="000000">
                      <a:alpha val="43137"/>
                    </a:srgbClr>
                  </a:outerShdw>
                </a:effectLst>
              </a:rPr>
              <a:t>É o atributo cujo valor deriva de outro atributo. </a:t>
            </a:r>
            <a:endParaRPr lang="pt-BR" sz="3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7F6"/>
        </a:solidFill>
        <a:effectLst/>
      </p:bgPr>
    </p:bg>
    <p:spTree>
      <p:nvGrpSpPr>
        <p:cNvPr id="1" name=""/>
        <p:cNvGrpSpPr/>
        <p:nvPr/>
      </p:nvGrpSpPr>
      <p:grpSpPr>
        <a:xfrm>
          <a:off x="0" y="0"/>
          <a:ext cx="0" cy="0"/>
          <a:chOff x="0" y="0"/>
          <a:chExt cx="0" cy="0"/>
        </a:xfrm>
      </p:grpSpPr>
      <p:sp>
        <p:nvSpPr>
          <p:cNvPr id="2" name="Freeform 2"/>
          <p:cNvSpPr/>
          <p:nvPr/>
        </p:nvSpPr>
        <p:spPr>
          <a:xfrm rot="3562681">
            <a:off x="473432" y="1304007"/>
            <a:ext cx="6908395" cy="10182951"/>
          </a:xfrm>
          <a:custGeom>
            <a:avLst/>
            <a:gdLst/>
            <a:ahLst/>
            <a:cxnLst/>
            <a:rect l="l" t="t" r="r" b="b"/>
            <a:pathLst>
              <a:path w="6908395" h="10182951">
                <a:moveTo>
                  <a:pt x="0" y="0"/>
                </a:moveTo>
                <a:lnTo>
                  <a:pt x="6908395" y="0"/>
                </a:lnTo>
                <a:lnTo>
                  <a:pt x="6908395" y="10182950"/>
                </a:lnTo>
                <a:lnTo>
                  <a:pt x="0" y="10182950"/>
                </a:lnTo>
                <a:lnTo>
                  <a:pt x="0" y="0"/>
                </a:lnTo>
                <a:close/>
              </a:path>
            </a:pathLst>
          </a:custGeom>
          <a:blipFill>
            <a:blip r:embed="rId2" cstate="print"/>
            <a:stretch>
              <a:fillRect l="-3155" r="-31793" b="-20069"/>
            </a:stretch>
          </a:blipFill>
        </p:spPr>
      </p:sp>
      <p:sp>
        <p:nvSpPr>
          <p:cNvPr id="3" name="Freeform 3"/>
          <p:cNvSpPr/>
          <p:nvPr/>
        </p:nvSpPr>
        <p:spPr>
          <a:xfrm>
            <a:off x="1909791" y="374199"/>
            <a:ext cx="14468419" cy="9538602"/>
          </a:xfrm>
          <a:custGeom>
            <a:avLst/>
            <a:gdLst/>
            <a:ahLst/>
            <a:cxnLst/>
            <a:rect l="l" t="t" r="r" b="b"/>
            <a:pathLst>
              <a:path w="14468419" h="9538602">
                <a:moveTo>
                  <a:pt x="0" y="0"/>
                </a:moveTo>
                <a:lnTo>
                  <a:pt x="14468418" y="0"/>
                </a:lnTo>
                <a:lnTo>
                  <a:pt x="14468418" y="9538602"/>
                </a:lnTo>
                <a:lnTo>
                  <a:pt x="0" y="9538602"/>
                </a:lnTo>
                <a:lnTo>
                  <a:pt x="0" y="0"/>
                </a:lnTo>
                <a:close/>
              </a:path>
            </a:pathLst>
          </a:custGeom>
          <a:blipFill>
            <a:blip r:embed="rId3" cstate="print"/>
            <a:stretch>
              <a:fillRect l="-39598" t="-37280" r="-43239" b="-19330"/>
            </a:stretch>
          </a:blipFill>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391C99"/>
        </a:solidFill>
        <a:effectLst/>
      </p:bgPr>
    </p:bg>
    <p:spTree>
      <p:nvGrpSpPr>
        <p:cNvPr id="1" name=""/>
        <p:cNvGrpSpPr/>
        <p:nvPr/>
      </p:nvGrpSpPr>
      <p:grpSpPr>
        <a:xfrm>
          <a:off x="0" y="0"/>
          <a:ext cx="0" cy="0"/>
          <a:chOff x="0" y="0"/>
          <a:chExt cx="0" cy="0"/>
        </a:xfrm>
      </p:grpSpPr>
      <p:sp>
        <p:nvSpPr>
          <p:cNvPr id="2" name="Freeform 2"/>
          <p:cNvSpPr/>
          <p:nvPr/>
        </p:nvSpPr>
        <p:spPr>
          <a:xfrm>
            <a:off x="0" y="0"/>
            <a:ext cx="3898842" cy="3825739"/>
          </a:xfrm>
          <a:custGeom>
            <a:avLst/>
            <a:gdLst/>
            <a:ahLst/>
            <a:cxnLst/>
            <a:rect l="l" t="t" r="r" b="b"/>
            <a:pathLst>
              <a:path w="3898842" h="3825739">
                <a:moveTo>
                  <a:pt x="0" y="0"/>
                </a:moveTo>
                <a:lnTo>
                  <a:pt x="3898842" y="0"/>
                </a:lnTo>
                <a:lnTo>
                  <a:pt x="3898842" y="3825739"/>
                </a:lnTo>
                <a:lnTo>
                  <a:pt x="0" y="3825739"/>
                </a:lnTo>
                <a:lnTo>
                  <a:pt x="0" y="0"/>
                </a:lnTo>
                <a:close/>
              </a:path>
            </a:pathLst>
          </a:custGeom>
          <a:blipFill>
            <a:blip r:embed="rId2" cstate="print"/>
            <a:stretch>
              <a:fillRect/>
            </a:stretch>
          </a:blipFill>
        </p:spPr>
      </p:sp>
      <p:sp>
        <p:nvSpPr>
          <p:cNvPr id="3" name="TextBox 3"/>
          <p:cNvSpPr txBox="1"/>
          <p:nvPr/>
        </p:nvSpPr>
        <p:spPr>
          <a:xfrm>
            <a:off x="4357616" y="684326"/>
            <a:ext cx="12184555" cy="8918349"/>
          </a:xfrm>
          <a:prstGeom prst="rect">
            <a:avLst/>
          </a:prstGeom>
        </p:spPr>
        <p:txBody>
          <a:bodyPr lIns="0" tIns="0" rIns="0" bIns="0" rtlCol="0" anchor="t">
            <a:spAutoFit/>
          </a:bodyPr>
          <a:lstStyle/>
          <a:p>
            <a:pPr algn="just">
              <a:lnSpc>
                <a:spcPts val="2602"/>
              </a:lnSpc>
            </a:pPr>
            <a:r>
              <a:rPr lang="en-US" sz="2168">
                <a:solidFill>
                  <a:srgbClr val="FFFFFF"/>
                </a:solidFill>
                <a:latin typeface="Poppins Medium Bold"/>
              </a:rPr>
              <a:t>O Aclub é uma rede de grupos institucionais onde tem-se o controle/cadastro de grupos, eventos, pessoas, usuários, arquivos, mensagens e notícias.Usuários possuem login e senha, existem separadamente de pessoas por razões de segurança do sistema. Pessoas possuem nome, data de nascimento, país, estado, cidade, bairro, estado civil, foto, e descrição pessoal. Cada pessoa remete-se a apenas um usuário, bem como, cada usuário remete-se à apenas uma pessoa.    Pessoas pertencem a um ou mais grupos, e podem cadastrar/modificar grupos e eventos de acordo com sua função no grupo. Grupos possuem nome e descrição, além disso, fazem eventos, enviam mensagens e arquivos, e informam notícias. Usuários, contudo, contêm níveis de acesso diferentes ao sistema, os tipos de usuários são integrantes comuns, moderadores e administrador (moderador que criou o grupo), moderadores são mais privilegiados do que integrantes comuns do grupo. Eventos são feitos por moderadores de um grupo. Um grupo pode fazer vários eventos, contudo, cada evento só pode pertencer a um grupo. Eventos contêm nome, data/hora de início, data/hora de fim, local e descrição. Usuários podem visualizar eventos por meio de duas formas, ou visualizam os eventos de um único grupo ou de forma geral, ou seja, visualizando todos os grupos. Arquivos são inseridos em um grupo por moderadores e contém nome, data/hora de inserção, data/hora modificação, e local de destino no servidor. Um grupo pode ter vários arquivos, contudo, cada arquivo pertence a apenas um único grupo. Mensagens são enviadas por qualquer usuário desde que contenha pelo menos um grupo. São direcionadas para todo o grupo e possuem apenas seu conteúdo e data/hora de envio. Cada grupo contém várias mensagens, contudo, cada mensagem só pode ser direcionada a um grupo. Notícias são construídas por moderadores de um grupo, e possuem título, imagem, data/hora de criação, e descrição (com ou sem links). Um grupo pode conter várias notícias, contudo, uma notícia pertence a apenas um grupo.</a:t>
            </a:r>
          </a:p>
          <a:p>
            <a:pPr algn="just">
              <a:lnSpc>
                <a:spcPts val="223"/>
              </a:lnSpc>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5">
            <a:lumMod val="75000"/>
          </a:schemeClr>
        </a:solidFill>
        <a:effectLst/>
      </p:bgPr>
    </p:bg>
    <p:spTree>
      <p:nvGrpSpPr>
        <p:cNvPr id="1" name=""/>
        <p:cNvGrpSpPr/>
        <p:nvPr/>
      </p:nvGrpSpPr>
      <p:grpSpPr>
        <a:xfrm>
          <a:off x="0" y="0"/>
          <a:ext cx="0" cy="0"/>
          <a:chOff x="0" y="0"/>
          <a:chExt cx="0" cy="0"/>
        </a:xfrm>
      </p:grpSpPr>
      <p:sp>
        <p:nvSpPr>
          <p:cNvPr id="2" name="CaixaDeTexto 1"/>
          <p:cNvSpPr txBox="1"/>
          <p:nvPr/>
        </p:nvSpPr>
        <p:spPr>
          <a:xfrm>
            <a:off x="6629400" y="2857500"/>
            <a:ext cx="10210800" cy="2862322"/>
          </a:xfrm>
          <a:prstGeom prst="rect">
            <a:avLst/>
          </a:prstGeom>
          <a:solidFill>
            <a:schemeClr val="tx2">
              <a:lumMod val="60000"/>
              <a:lumOff val="40000"/>
            </a:schemeClr>
          </a:solidFill>
        </p:spPr>
        <p:style>
          <a:lnRef idx="2">
            <a:schemeClr val="accent2"/>
          </a:lnRef>
          <a:fillRef idx="1">
            <a:schemeClr val="lt1"/>
          </a:fillRef>
          <a:effectRef idx="0">
            <a:schemeClr val="accent2"/>
          </a:effectRef>
          <a:fontRef idx="minor">
            <a:schemeClr val="dk1"/>
          </a:fontRef>
        </p:style>
        <p:txBody>
          <a:bodyPr wrap="square" rtlCol="0">
            <a:spAutoFit/>
          </a:bodyPr>
          <a:lstStyle/>
          <a:p>
            <a:r>
              <a:rPr lang="pt-BR" sz="3600" dirty="0">
                <a:solidFill>
                  <a:schemeClr val="bg1"/>
                </a:solidFill>
              </a:rPr>
              <a:t>Exercício 2 </a:t>
            </a:r>
          </a:p>
          <a:p>
            <a:endParaRPr lang="pt-BR" sz="3600" dirty="0">
              <a:solidFill>
                <a:schemeClr val="bg1"/>
              </a:solidFill>
            </a:endParaRPr>
          </a:p>
          <a:p>
            <a:r>
              <a:rPr lang="pt-BR" sz="3600" dirty="0">
                <a:solidFill>
                  <a:schemeClr val="bg1"/>
                </a:solidFill>
              </a:rPr>
              <a:t>A partir do texto anterior, identificar as entidades, seus atributos, </a:t>
            </a:r>
          </a:p>
          <a:p>
            <a:r>
              <a:rPr lang="pt-BR" sz="3600" dirty="0">
                <a:solidFill>
                  <a:schemeClr val="bg1"/>
                </a:solidFill>
              </a:rPr>
              <a:t>para cada atributo dizer seu tipo.</a:t>
            </a:r>
          </a:p>
        </p:txBody>
      </p:sp>
      <p:pic>
        <p:nvPicPr>
          <p:cNvPr id="3" name="Imagem 2" descr="BD2.png"/>
          <p:cNvPicPr>
            <a:picLocks noChangeAspect="1"/>
          </p:cNvPicPr>
          <p:nvPr/>
        </p:nvPicPr>
        <p:blipFill>
          <a:blip r:embed="rId2" cstate="print"/>
          <a:stretch>
            <a:fillRect/>
          </a:stretch>
        </p:blipFill>
        <p:spPr>
          <a:xfrm>
            <a:off x="609600" y="1866900"/>
            <a:ext cx="5882494" cy="55626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p:nvSpPr>
          <p:cNvPr id="3" name="CaixaDeTexto 2"/>
          <p:cNvSpPr txBox="1"/>
          <p:nvPr/>
        </p:nvSpPr>
        <p:spPr>
          <a:xfrm>
            <a:off x="838200" y="1943100"/>
            <a:ext cx="16459200" cy="5078313"/>
          </a:xfrm>
          <a:prstGeom prst="rect">
            <a:avLst/>
          </a:prstGeom>
          <a:solidFill>
            <a:schemeClr val="accent6">
              <a:lumMod val="75000"/>
            </a:schemeClr>
          </a:solidFill>
        </p:spPr>
        <p:style>
          <a:lnRef idx="2">
            <a:schemeClr val="accent1"/>
          </a:lnRef>
          <a:fillRef idx="1">
            <a:schemeClr val="lt1"/>
          </a:fillRef>
          <a:effectRef idx="0">
            <a:schemeClr val="accent1"/>
          </a:effectRef>
          <a:fontRef idx="minor">
            <a:schemeClr val="dk1"/>
          </a:fontRef>
        </p:style>
        <p:txBody>
          <a:bodyPr wrap="square" rtlCol="0">
            <a:spAutoFit/>
          </a:bodyPr>
          <a:lstStyle/>
          <a:p>
            <a:r>
              <a:rPr lang="pt-BR" sz="7200" b="1" dirty="0">
                <a:solidFill>
                  <a:schemeClr val="bg1"/>
                </a:solidFill>
              </a:rPr>
              <a:t>Especialização</a:t>
            </a:r>
          </a:p>
          <a:p>
            <a:endParaRPr lang="pt-BR" sz="6000" dirty="0">
              <a:solidFill>
                <a:schemeClr val="bg1"/>
              </a:solidFill>
            </a:endParaRPr>
          </a:p>
          <a:p>
            <a:pPr algn="just"/>
            <a:r>
              <a:rPr lang="pt-BR" sz="3200" dirty="0">
                <a:solidFill>
                  <a:schemeClr val="bg1"/>
                </a:solidFill>
              </a:rPr>
              <a:t>Quando são definidas as entidades, muitas vezes achamos que devemos detalhar, ou melhor, montar um subgrupo, poderíamos dizer uma “subentidade” que difere da criada por apenas algum atributo. Nesse caso estamos falando da especialização.  Temos uma entidade e, a partir dela, formamos outra entidade com os mesmos atributos, mas com um ou mais que a classificam ou a especificam. Se olharmos de forma genérica é como se estivéssemos criando um conjnto desse conjunto.</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m 3" descr="Screenshot_20230817_083429_Gallery.jpg"/>
          <p:cNvPicPr>
            <a:picLocks noChangeAspect="1"/>
          </p:cNvPicPr>
          <p:nvPr/>
        </p:nvPicPr>
        <p:blipFill>
          <a:blip r:embed="rId2" cstate="print"/>
          <a:srcRect l="5472" t="22999" r="19011" b="4717"/>
          <a:stretch>
            <a:fillRect/>
          </a:stretch>
        </p:blipFill>
        <p:spPr>
          <a:xfrm>
            <a:off x="3962400" y="62948"/>
            <a:ext cx="8016586" cy="1022405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pic>
        <p:nvPicPr>
          <p:cNvPr id="3" name="Imagem 2" descr="20230816_171249.jpg"/>
          <p:cNvPicPr>
            <a:picLocks noChangeAspect="1"/>
          </p:cNvPicPr>
          <p:nvPr/>
        </p:nvPicPr>
        <p:blipFill>
          <a:blip r:embed="rId3" cstate="print"/>
          <a:srcRect t="35945" b="3285"/>
          <a:stretch>
            <a:fillRect/>
          </a:stretch>
        </p:blipFill>
        <p:spPr>
          <a:xfrm>
            <a:off x="4038600" y="4152900"/>
            <a:ext cx="8964452" cy="5845426"/>
          </a:xfrm>
          <a:prstGeom prst="rect">
            <a:avLst/>
          </a:prstGeom>
        </p:spPr>
      </p:pic>
      <p:sp>
        <p:nvSpPr>
          <p:cNvPr id="4" name="CaixaDeTexto 3"/>
          <p:cNvSpPr txBox="1"/>
          <p:nvPr/>
        </p:nvSpPr>
        <p:spPr>
          <a:xfrm>
            <a:off x="914400" y="1028700"/>
            <a:ext cx="16002000" cy="3016210"/>
          </a:xfrm>
          <a:prstGeom prst="rect">
            <a:avLst/>
          </a:prstGeom>
          <a:solidFill>
            <a:schemeClr val="accent3">
              <a:lumMod val="60000"/>
              <a:lumOff val="40000"/>
            </a:schemeClr>
          </a:solidFill>
        </p:spPr>
        <p:style>
          <a:lnRef idx="2">
            <a:schemeClr val="accent2"/>
          </a:lnRef>
          <a:fillRef idx="1">
            <a:schemeClr val="lt1"/>
          </a:fillRef>
          <a:effectRef idx="0">
            <a:schemeClr val="accent2"/>
          </a:effectRef>
          <a:fontRef idx="minor">
            <a:schemeClr val="dk1"/>
          </a:fontRef>
        </p:style>
        <p:txBody>
          <a:bodyPr wrap="square" rtlCol="0">
            <a:spAutoFit/>
          </a:bodyPr>
          <a:lstStyle/>
          <a:p>
            <a:r>
              <a:rPr lang="pt-BR" sz="5400" b="1" dirty="0">
                <a:solidFill>
                  <a:schemeClr val="accent2">
                    <a:lumMod val="75000"/>
                  </a:schemeClr>
                </a:solidFill>
              </a:rPr>
              <a:t>GENERALIZAÇÃO</a:t>
            </a:r>
          </a:p>
          <a:p>
            <a:endParaRPr lang="pt-BR" b="1" dirty="0">
              <a:solidFill>
                <a:schemeClr val="accent2">
                  <a:lumMod val="75000"/>
                </a:schemeClr>
              </a:solidFill>
            </a:endParaRPr>
          </a:p>
          <a:p>
            <a:r>
              <a:rPr lang="pt-BR" sz="2000" b="1" dirty="0">
                <a:solidFill>
                  <a:schemeClr val="accent2">
                    <a:lumMod val="75000"/>
                  </a:schemeClr>
                </a:solidFill>
                <a:latin typeface="Book Antiqua" pitchFamily="18" charset="0"/>
              </a:rPr>
              <a:t>Se  olharmos a especialização de baixo para cima, falamos de uma generalização. Podemos dizer que a generalização é o processo inverso da especialização. </a:t>
            </a:r>
          </a:p>
          <a:p>
            <a:r>
              <a:rPr lang="pt-BR" sz="2000" b="1" dirty="0">
                <a:solidFill>
                  <a:schemeClr val="accent2">
                    <a:lumMod val="75000"/>
                  </a:schemeClr>
                </a:solidFill>
                <a:latin typeface="Book Antiqua" pitchFamily="18" charset="0"/>
              </a:rPr>
              <a:t>Especialização é  um processo top-down, e generalização é um processo bottom-uo.  As entidades que estão  mais acima, ou seja, de alto nível, são agrupadas a partir de propriedades comuns de entidades que estão abaixo, ou seja, de níveis inferirores.</a:t>
            </a:r>
          </a:p>
          <a:p>
            <a:r>
              <a:rPr lang="pt-BR" sz="2000" b="1" dirty="0">
                <a:solidFill>
                  <a:schemeClr val="accent2">
                    <a:lumMod val="75000"/>
                  </a:schemeClr>
                </a:solidFill>
                <a:latin typeface="Book Antiqua" pitchFamily="18" charset="0"/>
              </a:rPr>
              <a:t>No exemplo dado temos a representação da generalização como mostra a figura 2.26. </a:t>
            </a:r>
          </a:p>
          <a:p>
            <a:endParaRPr lang="pt-BR" b="1"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3">
            <a:lumMod val="40000"/>
            <a:lumOff val="60000"/>
          </a:schemeClr>
        </a:solidFill>
        <a:effectLst/>
      </p:bgPr>
    </p:bg>
    <p:spTree>
      <p:nvGrpSpPr>
        <p:cNvPr id="1" name=""/>
        <p:cNvGrpSpPr/>
        <p:nvPr/>
      </p:nvGrpSpPr>
      <p:grpSpPr>
        <a:xfrm>
          <a:off x="0" y="0"/>
          <a:ext cx="0" cy="0"/>
          <a:chOff x="0" y="0"/>
          <a:chExt cx="0" cy="0"/>
        </a:xfrm>
      </p:grpSpPr>
      <p:sp>
        <p:nvSpPr>
          <p:cNvPr id="3" name="CaixaDeTexto 2"/>
          <p:cNvSpPr txBox="1"/>
          <p:nvPr/>
        </p:nvSpPr>
        <p:spPr>
          <a:xfrm>
            <a:off x="762000" y="952500"/>
            <a:ext cx="16459199" cy="6863417"/>
          </a:xfrm>
          <a:prstGeom prst="rect">
            <a:avLst/>
          </a:prstGeom>
          <a:solidFill>
            <a:schemeClr val="accent4">
              <a:lumMod val="40000"/>
              <a:lumOff val="60000"/>
            </a:schemeClr>
          </a:solidFill>
        </p:spPr>
        <p:style>
          <a:lnRef idx="2">
            <a:schemeClr val="accent6"/>
          </a:lnRef>
          <a:fillRef idx="1">
            <a:schemeClr val="lt1"/>
          </a:fillRef>
          <a:effectRef idx="0">
            <a:schemeClr val="accent6"/>
          </a:effectRef>
          <a:fontRef idx="minor">
            <a:schemeClr val="dk1"/>
          </a:fontRef>
        </p:style>
        <p:txBody>
          <a:bodyPr wrap="square" rtlCol="0">
            <a:spAutoFit/>
          </a:bodyPr>
          <a:lstStyle/>
          <a:p>
            <a:r>
              <a:rPr lang="pt-BR" sz="8000" dirty="0">
                <a:solidFill>
                  <a:schemeClr val="accent1">
                    <a:lumMod val="75000"/>
                  </a:schemeClr>
                </a:solidFill>
              </a:rPr>
              <a:t>Herança</a:t>
            </a:r>
          </a:p>
          <a:p>
            <a:endParaRPr lang="pt-BR" sz="8000" dirty="0">
              <a:solidFill>
                <a:schemeClr val="accent1">
                  <a:lumMod val="75000"/>
                </a:schemeClr>
              </a:solidFill>
            </a:endParaRPr>
          </a:p>
          <a:p>
            <a:pPr algn="just"/>
            <a:r>
              <a:rPr lang="pt-BR" sz="2800" dirty="0">
                <a:solidFill>
                  <a:schemeClr val="accent1">
                    <a:lumMod val="75000"/>
                  </a:schemeClr>
                </a:solidFill>
              </a:rPr>
              <a:t>Nesse processo, observamos que o MER estendido também é composto pela herança, e esta, por sua vez, é uma característica resultante da especialização/generalização  de entidades.  Porém, ao mencionarmos herança, logo pensamos nas propriedades que são herdadas, mas quem herda o quê? A herança é de atributos e de relacionamentos, e quem recebe são as entidades de nível inferior. No entanto, é importante lembrar, como dito, que as entidades de nível inferior também herdam a participação em relacionamentos dos quais participam as entidades de nivel superior.</a:t>
            </a:r>
          </a:p>
          <a:p>
            <a:pPr algn="just"/>
            <a:endParaRPr lang="pt-BR" sz="2800" dirty="0">
              <a:solidFill>
                <a:schemeClr val="accent1">
                  <a:lumMod val="75000"/>
                </a:schemeClr>
              </a:solidFill>
            </a:endParaRPr>
          </a:p>
          <a:p>
            <a:pPr algn="just"/>
            <a:r>
              <a:rPr lang="pt-BR" sz="2800" dirty="0">
                <a:solidFill>
                  <a:schemeClr val="accent1">
                    <a:lumMod val="75000"/>
                  </a:schemeClr>
                </a:solidFill>
              </a:rPr>
              <a:t>Como  o exemplo da figura 2.27, as entidades Alunos e professores herdam todos os atributos e relacionamentos da entidade Pessoa. Se pensarmos  n a entidade Universitário, ela herda os atributos e relacionamentos da entidade Professores e, consequentemente, também da entidade Pessoa.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1885</TotalTime>
  <Words>1177</Words>
  <Application>Microsoft Office PowerPoint</Application>
  <PresentationFormat>Personalizar</PresentationFormat>
  <Paragraphs>83</Paragraphs>
  <Slides>17</Slides>
  <Notes>1</Notes>
  <HiddenSlides>0</HiddenSlides>
  <MMClips>0</MMClips>
  <ScaleCrop>false</ScaleCrop>
  <HeadingPairs>
    <vt:vector size="6" baseType="variant">
      <vt:variant>
        <vt:lpstr>Fontes usadas</vt:lpstr>
      </vt:variant>
      <vt:variant>
        <vt:i4>8</vt:i4>
      </vt:variant>
      <vt:variant>
        <vt:lpstr>Tema</vt:lpstr>
      </vt:variant>
      <vt:variant>
        <vt:i4>1</vt:i4>
      </vt:variant>
      <vt:variant>
        <vt:lpstr>Títulos de slides</vt:lpstr>
      </vt:variant>
      <vt:variant>
        <vt:i4>17</vt:i4>
      </vt:variant>
    </vt:vector>
  </HeadingPairs>
  <TitlesOfParts>
    <vt:vector size="26" baseType="lpstr">
      <vt:lpstr>Arial</vt:lpstr>
      <vt:lpstr>Poppins Bold Bold</vt:lpstr>
      <vt:lpstr>Poppins Light</vt:lpstr>
      <vt:lpstr>Calibri</vt:lpstr>
      <vt:lpstr>Poppins Medium Bold</vt:lpstr>
      <vt:lpstr>Poppins Light Bold</vt:lpstr>
      <vt:lpstr>Poppins Medium</vt:lpstr>
      <vt:lpstr>Book Antiqua</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Azul Branco Elementos 3D Tecnologia na Educação Apresentação de Tecnologia</dc:title>
  <dc:creator>Mônica Leite Araújo</dc:creator>
  <cp:lastModifiedBy>prof.renatagomesdf@gmail.com</cp:lastModifiedBy>
  <cp:revision>16</cp:revision>
  <dcterms:created xsi:type="dcterms:W3CDTF">2006-08-16T00:00:00Z</dcterms:created>
  <dcterms:modified xsi:type="dcterms:W3CDTF">2026-08-10T22:42:27Z</dcterms:modified>
  <dc:identifier>DAFrYEnvJmQ</dc:identifier>
</cp:coreProperties>
</file>