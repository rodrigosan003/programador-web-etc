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Estilo Claro 2 - Ênfas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5646" autoAdjust="0"/>
  </p:normalViewPr>
  <p:slideViewPr>
    <p:cSldViewPr snapToGrid="0">
      <p:cViewPr varScale="1">
        <p:scale>
          <a:sx n="61" d="100"/>
          <a:sy n="61" d="100"/>
        </p:scale>
        <p:origin x="294" y="66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82" d="100"/>
          <a:sy n="82" d="100"/>
        </p:scale>
        <p:origin x="392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8D0C1F59-543C-4408-97F4-1F494461D321}" type="datetime1">
              <a:rPr lang="pt-BR" smtClean="0"/>
              <a:t>05/08/2024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EAFF3A6F-DEFA-45E0-9496-BEE7C2C6F3D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fld id="{C598E8C6-8B1B-4218-BD0A-BE1467626508}" type="datetime1">
              <a:rPr lang="pt-BR" smtClean="0"/>
              <a:pPr/>
              <a:t>05/08/2024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F97DC217-DF71-1A49-B3EA-559F1F43B0F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7DC217-DF71-1A49-B3EA-559F1F43B0FF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7DC217-DF71-1A49-B3EA-559F1F43B0FF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1" name="Forma Livre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9" name="Forma Livre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orma Livre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  <p:sp>
            <p:nvSpPr>
              <p:cNvPr id="16" name="Forma Livre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</p:grpSp>
        <p:sp>
          <p:nvSpPr>
            <p:cNvPr id="22" name="Forma Livre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8" name="Forma Livre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rtlCol="0" anchor="b">
            <a:noAutofit/>
          </a:bodyPr>
          <a:lstStyle>
            <a:lvl1pPr algn="l">
              <a:defRPr lang="pt-BR" sz="6000" b="1"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a Liv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5" name="Forma Liv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>
                <a:latin typeface="+mn-lt"/>
              </a:endParaRPr>
            </a:p>
          </p:txBody>
        </p:sp>
        <p:sp>
          <p:nvSpPr>
            <p:cNvPr id="6" name="Forma Livre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a Liv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>
                  <a:latin typeface="+mn-lt"/>
                </a:endParaRPr>
              </a:p>
            </p:txBody>
          </p:sp>
          <p:sp>
            <p:nvSpPr>
              <p:cNvPr id="8" name="Forma Liv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>
                  <a:latin typeface="+mn-lt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rtlCol="0" anchor="b">
            <a:noAutofit/>
          </a:bodyPr>
          <a:lstStyle>
            <a:lvl1pPr>
              <a:defRPr lang="pt-BR" sz="4200" b="1"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 rtlCol="0">
            <a:normAutofit/>
          </a:bodyPr>
          <a:lstStyle>
            <a:lvl1pPr marL="0" indent="0">
              <a:buNone/>
              <a:defRPr lang="pt-BR">
                <a:latin typeface="+mn-lt"/>
              </a:defRPr>
            </a:lvl1pPr>
            <a:lvl2pPr marL="457200" indent="0">
              <a:buNone/>
              <a:defRPr lang="pt-BR">
                <a:latin typeface="+mn-lt"/>
              </a:defRPr>
            </a:lvl2pPr>
            <a:lvl3pPr marL="914400" indent="0">
              <a:buNone/>
              <a:defRPr lang="pt-BR">
                <a:latin typeface="+mn-lt"/>
              </a:defRPr>
            </a:lvl3pPr>
            <a:lvl4pPr marL="1371600" indent="0">
              <a:buNone/>
              <a:defRPr lang="pt-BR">
                <a:latin typeface="+mn-lt"/>
              </a:defRPr>
            </a:lvl4pPr>
            <a:lvl5pPr marL="1828800" indent="0">
              <a:buNone/>
              <a:defRPr lang="pt-BR"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Dat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11" name="Espaço Reservado para Rodapé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12" name="Espaço Reservado para o Número do Slid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pt-BR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 conteúdo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2" name="Forma Livre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4" name="Forma Livre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5" name="Forma Livre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13" name="Título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rtlCol="0" anchor="b">
            <a:noAutofit/>
          </a:bodyPr>
          <a:lstStyle>
            <a:lvl1pPr>
              <a:defRPr lang="pt-BR" sz="4200" b="1"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 rtlCol="0"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 lang="pt-BR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 lang="pt-BR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 lang="pt-BR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 da 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orma Livre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orma Livre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  <p:sp>
            <p:nvSpPr>
              <p:cNvPr id="16" name="Forma Livre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</p:grpSp>
        <p:sp>
          <p:nvSpPr>
            <p:cNvPr id="17" name="Forma Livre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8" name="Forma Livre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rtlCol="0" anchor="b">
            <a:noAutofit/>
          </a:bodyPr>
          <a:lstStyle>
            <a:lvl1pPr algn="l">
              <a:defRPr lang="pt-BR" sz="60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rtlCol="0" anchor="ctr" anchorCtr="0">
            <a:noAutofit/>
          </a:bodyPr>
          <a:lstStyle>
            <a:lvl1pPr marL="0" indent="0" algn="l">
              <a:buNone/>
              <a:defRPr lang="pt-BR"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de 2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o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a Liv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5" name="Forma Liv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6" name="Forma Livre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a Liv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>
                  <a:latin typeface="+mn-lt"/>
                </a:endParaRPr>
              </a:p>
            </p:txBody>
          </p:sp>
          <p:sp>
            <p:nvSpPr>
              <p:cNvPr id="8" name="Forma Liv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>
                  <a:latin typeface="+mn-lt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Autofit/>
          </a:bodyPr>
          <a:lstStyle>
            <a:lvl1pPr>
              <a:defRPr lang="pt-BR" sz="4200" b="1"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pt-BR"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pt-BR"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Dat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11" name="Espaço Reservado para Rodapé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12" name="Espaço Reservado para o Número do Slid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pt-BR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2 conteúd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orma Liv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5" name="Forma Liv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rtlCol="0" anchor="b">
            <a:noAutofit/>
          </a:bodyPr>
          <a:lstStyle>
            <a:lvl1pPr>
              <a:defRPr lang="pt-BR" sz="42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lang="pt-BR"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lang="pt-BR"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lang="pt-BR"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lang="pt-BR"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lang="pt-BR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pt-BR"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Dat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11" name="Espaço Reservado para Rodapé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pt-BR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12" name="Espaço Reservado para o Número do Slid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pt-BR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áfico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orma Livre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4" name="Forma Livre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rtlCol="0" anchor="b">
            <a:noAutofit/>
          </a:bodyPr>
          <a:lstStyle>
            <a:lvl1pPr>
              <a:defRPr lang="pt-BR" sz="4200" b="1"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 rtlCol="0">
            <a:noAutofit/>
          </a:bodyPr>
          <a:lstStyle>
            <a:lvl1pPr marL="0" indent="0">
              <a:buNone/>
              <a:defRPr lang="pt-BR">
                <a:latin typeface="+mn-lt"/>
              </a:defRPr>
            </a:lvl1pPr>
            <a:lvl2pPr marL="457200" indent="0">
              <a:buNone/>
              <a:defRPr lang="pt-BR">
                <a:latin typeface="+mn-lt"/>
              </a:defRPr>
            </a:lvl2pPr>
            <a:lvl3pPr marL="914400" indent="0">
              <a:buNone/>
              <a:defRPr lang="pt-BR">
                <a:latin typeface="+mn-lt"/>
              </a:defRPr>
            </a:lvl3pPr>
            <a:lvl4pPr marL="1371600" indent="0">
              <a:buNone/>
              <a:defRPr lang="pt-BR">
                <a:latin typeface="+mn-lt"/>
              </a:defRPr>
            </a:lvl4pPr>
            <a:lvl5pPr marL="1828800" indent="0">
              <a:buNone/>
              <a:defRPr lang="pt-BR"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Dat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11" name="Espaço Reservado para Rodapé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12" name="Espaço Reservado para o Número do Slid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orma Livre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  <p:sp>
            <p:nvSpPr>
              <p:cNvPr id="16" name="Forma Livre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</p:grpSp>
        <p:sp>
          <p:nvSpPr>
            <p:cNvPr id="22" name="Forma Livre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7" name="Forma Livre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rtlCol="0" anchor="b">
            <a:noAutofit/>
          </a:bodyPr>
          <a:lstStyle>
            <a:lvl1pPr algn="l">
              <a:defRPr lang="pt-BR" sz="6000" b="1"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rtlCol="0" anchor="t" anchorCtr="0">
            <a:normAutofit/>
          </a:bodyPr>
          <a:lstStyle>
            <a:lvl1pPr marL="0" indent="0" algn="l">
              <a:buNone/>
              <a:defRPr lang="pt-BR" sz="2800">
                <a:latin typeface="+mn-lt"/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lvl="0" rtl="0"/>
            <a:r>
              <a:rPr lang="pt-BR"/>
              <a:t>Clique para adicionar o texto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pt-BR"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pt-BR"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pt-BR"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59" r:id="rId4"/>
    <p:sldLayoutId id="2147483668" r:id="rId5"/>
    <p:sldLayoutId id="2147483669" r:id="rId6"/>
    <p:sldLayoutId id="2147483661" r:id="rId7"/>
    <p:sldLayoutId id="2147483666" r:id="rId8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pt-BR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pt-BR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830130"/>
          </a:xfrm>
        </p:spPr>
        <p:txBody>
          <a:bodyPr rtlCol="0"/>
          <a:lstStyle>
            <a:defPPr>
              <a:defRPr lang="pt-BR"/>
            </a:defPPr>
          </a:lstStyle>
          <a:p>
            <a:pPr rtl="0">
              <a:lnSpc>
                <a:spcPct val="100000"/>
              </a:lnSpc>
            </a:pPr>
            <a:r>
              <a:rPr lang="pt-BR" dirty="0"/>
              <a:t>RELACIONAMENTO ENTRE TABELAS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A EXISTÊNCIA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vert="horz" lIns="91440" tIns="45720" rIns="91440" bIns="45720" rtlCol="0" anchor="t">
            <a:normAutofit lnSpcReduction="10000"/>
          </a:bodyPr>
          <a:lstStyle>
            <a:defPPr>
              <a:defRPr lang="pt-BR"/>
            </a:defPPr>
          </a:lstStyle>
          <a:p>
            <a:pPr algn="just" rtl="0"/>
            <a:r>
              <a:rPr lang="pt-BR" dirty="0"/>
              <a:t>Entender efetivamente relacionamentos e ser capaz de enxergar esses objetos como participantes do mundo real são fatores primordiais para efetuar trabalhos de modelagem de dados.</a:t>
            </a:r>
          </a:p>
          <a:p>
            <a:pPr algn="just" rtl="0"/>
            <a:r>
              <a:rPr lang="pt-BR" dirty="0"/>
              <a:t>Definimos RELACIONAMENTO como o fato, o acontecimento que associa dois objetos existente no mundo real. </a:t>
            </a:r>
          </a:p>
          <a:p>
            <a:pPr algn="just" rtl="0"/>
            <a:r>
              <a:rPr lang="pt-BR" dirty="0"/>
              <a:t>RELACIONAMENTO, em banco de dados, é o fato que promove a junção de duas ou mais entidades.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654850-79CD-513F-D331-91CEBF2CE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CONTEXTO DE BANCO DE DADOS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3F189A-9803-FEA3-3B62-EFD436C4E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dirty="0"/>
              <a:t>A colocação do verbo servirá para expressar o relacionamento entre as entidades.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pt-BR" dirty="0"/>
              <a:t>Ex. Pessoas MORAM em apartamentos.</a:t>
            </a:r>
          </a:p>
          <a:p>
            <a:pPr lvl="1" algn="just"/>
            <a:r>
              <a:rPr lang="pt-BR" dirty="0"/>
              <a:t>            Os apartamentos FORMAM condomínios.</a:t>
            </a:r>
          </a:p>
          <a:p>
            <a:pPr lvl="1" algn="just"/>
            <a:r>
              <a:rPr lang="pt-BR" dirty="0"/>
              <a:t>            Os professores LECIONAM disciplinas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5395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E83F8E-9FA1-EE7D-4555-1DCDD9D82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ESTUDO DE CASO DE LIVRARIA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AC84A2-CD48-D692-1853-3B0D9D78E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4" y="2017467"/>
            <a:ext cx="10368571" cy="4233431"/>
          </a:xfrm>
        </p:spPr>
        <p:txBody>
          <a:bodyPr>
            <a:normAutofit fontScale="77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Os seguintes dados deverão ser coletados dos clientes: nome, telefone, endereço e </a:t>
            </a:r>
            <a:r>
              <a:rPr lang="pt-BR" b="0" i="0" dirty="0" err="1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email</a:t>
            </a:r>
            <a:r>
              <a:rPr lang="pt-BR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Os livros tem informações associadas: título, categoria, ISBN, ano de publicação, valor, editora e autores da obra;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Os livros são fornecidos por editoras e é essencial que se tenha o nome da editora, nome do contato, </a:t>
            </a:r>
            <a:r>
              <a:rPr lang="pt-BR" b="0" i="0" dirty="0" err="1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email</a:t>
            </a:r>
            <a:r>
              <a:rPr lang="pt-BR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 e no máximo 2 telefones.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Um livro é exclusivo da editora, ou seja, não se pode ter o mesmo livro vindo de várias editoras;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O cliente pode comprar um ou mais livros através de um pedido de compra. Mas sempre que ele faz uma compra precisa verificar-se se o livro existe em estoque.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pt-BR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source-serif-pro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Identificar as tabelas e os relacionamentos</a:t>
            </a:r>
          </a:p>
          <a:p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9894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4D5A85-A9F4-76B9-5A83-A5BBB3637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RELACIONAMENTOS DE CARDINALIDADE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3EBC7E-D377-ED0B-5C96-785ED52F4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dirty="0"/>
              <a:t>Existem 3 tipos de relacionamento no banco de dados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dirty="0"/>
              <a:t>UM PARA UM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dirty="0"/>
              <a:t>UM PARA MUITOS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dirty="0"/>
              <a:t>MUITOS PARA MUITOS</a:t>
            </a:r>
          </a:p>
        </p:txBody>
      </p:sp>
    </p:spTree>
    <p:extLst>
      <p:ext uri="{BB962C8B-B14F-4D97-AF65-F5344CB8AC3E}">
        <p14:creationId xmlns:p14="http://schemas.microsoft.com/office/powerpoint/2010/main" val="3030969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492A68-D7AF-CABA-689D-E1FEF29F6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UM PARA UM (1:1)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1E5946-5F34-C1DD-23EC-D10A92B58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4218441"/>
          </a:xfrm>
          <a:noFill/>
        </p:spPr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Gotham-Book"/>
              </a:rPr>
              <a:t>Um relacionamento um-para-um (1:1) significa que cada instância de uma entidade se relaciona com no máximo uma única instância de outra entidade, e vice-versa.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242424"/>
                </a:solidFill>
                <a:highlight>
                  <a:srgbClr val="FFFFFF"/>
                </a:highlight>
                <a:latin typeface="Gotham-Book"/>
              </a:rPr>
              <a:t>Ex.: </a:t>
            </a:r>
            <a:r>
              <a:rPr lang="pt-BR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Gotham-Book"/>
              </a:rPr>
              <a:t>Pessoa e habilitação – Pessoa tem residência</a:t>
            </a:r>
            <a:endParaRPr lang="pt-BR" sz="1800" dirty="0">
              <a:solidFill>
                <a:srgbClr val="242424"/>
              </a:solidFill>
              <a:highlight>
                <a:srgbClr val="FFFFFF"/>
              </a:highlight>
              <a:latin typeface="Gotham-Book"/>
            </a:endParaRPr>
          </a:p>
          <a:p>
            <a:pPr lvl="1" algn="just"/>
            <a:endParaRPr lang="pt-BR" sz="1800" b="0" i="0" u="none" strike="noStrike" dirty="0">
              <a:effectLst/>
              <a:highlight>
                <a:srgbClr val="DAE5EF"/>
              </a:highlight>
              <a:latin typeface="Arial" panose="020B0604020202020204" pitchFamily="34" charset="0"/>
            </a:endParaRPr>
          </a:p>
          <a:p>
            <a:pPr lvl="1" algn="just"/>
            <a:endParaRPr lang="pt-BR" dirty="0">
              <a:solidFill>
                <a:srgbClr val="242424"/>
              </a:solidFill>
              <a:highlight>
                <a:srgbClr val="FFFFFF"/>
              </a:highlight>
              <a:latin typeface="Gotham-Book"/>
            </a:endParaRPr>
          </a:p>
          <a:p>
            <a:pPr lvl="1" algn="just"/>
            <a:r>
              <a:rPr lang="pt-BR" dirty="0">
                <a:solidFill>
                  <a:srgbClr val="242424"/>
                </a:solidFill>
                <a:highlight>
                  <a:srgbClr val="FFFFFF"/>
                </a:highlight>
                <a:latin typeface="Gotham-Book"/>
              </a:rPr>
              <a:t> </a:t>
            </a:r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65EB9E55-DC18-C05A-17FB-4650E04CD1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5413278"/>
              </p:ext>
            </p:extLst>
          </p:nvPr>
        </p:nvGraphicFramePr>
        <p:xfrm>
          <a:off x="2407677" y="4189635"/>
          <a:ext cx="1228491" cy="7315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28491">
                  <a:extLst>
                    <a:ext uri="{9D8B030D-6E8A-4147-A177-3AD203B41FA5}">
                      <a16:colId xmlns:a16="http://schemas.microsoft.com/office/drawing/2014/main" val="20204738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Pessoa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05879"/>
                  </a:ext>
                </a:extLst>
              </a:tr>
              <a:tr h="175064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995718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BD1CD827-3A63-FD59-BA8C-82B47184E0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007897"/>
              </p:ext>
            </p:extLst>
          </p:nvPr>
        </p:nvGraphicFramePr>
        <p:xfrm>
          <a:off x="7889671" y="4249360"/>
          <a:ext cx="1576689" cy="1034184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576689">
                  <a:extLst>
                    <a:ext uri="{9D8B030D-6E8A-4147-A177-3AD203B41FA5}">
                      <a16:colId xmlns:a16="http://schemas.microsoft.com/office/drawing/2014/main" val="2020473813"/>
                    </a:ext>
                  </a:extLst>
                </a:gridCol>
              </a:tblGrid>
              <a:tr h="517092"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Habilitação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05879"/>
                  </a:ext>
                </a:extLst>
              </a:tr>
              <a:tr h="517092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995718"/>
                  </a:ext>
                </a:extLst>
              </a:tr>
            </a:tbl>
          </a:graphicData>
        </a:graphic>
      </p:graphicFrame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9D594E95-C640-90F0-3469-87CE94372875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3579098" y="4422497"/>
            <a:ext cx="1067733" cy="226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54176B2-DD49-C2F5-DBAD-12F29F555706}"/>
              </a:ext>
            </a:extLst>
          </p:cNvPr>
          <p:cNvSpPr txBox="1"/>
          <p:nvPr/>
        </p:nvSpPr>
        <p:spPr>
          <a:xfrm>
            <a:off x="3756401" y="4368018"/>
            <a:ext cx="359764" cy="37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8" name="Fluxograma: Decisão 17">
            <a:extLst>
              <a:ext uri="{FF2B5EF4-FFF2-40B4-BE49-F238E27FC236}">
                <a16:creationId xmlns:a16="http://schemas.microsoft.com/office/drawing/2014/main" id="{8B0D9C41-8E6B-3791-B62D-CDFD1D48A04A}"/>
              </a:ext>
            </a:extLst>
          </p:cNvPr>
          <p:cNvSpPr/>
          <p:nvPr/>
        </p:nvSpPr>
        <p:spPr>
          <a:xfrm>
            <a:off x="4646831" y="3992028"/>
            <a:ext cx="1771154" cy="906248"/>
          </a:xfrm>
          <a:prstGeom prst="flowChartDecis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5A7EA9F-A3EB-9D4E-A69F-44743F5C4960}"/>
              </a:ext>
            </a:extLst>
          </p:cNvPr>
          <p:cNvSpPr txBox="1"/>
          <p:nvPr/>
        </p:nvSpPr>
        <p:spPr>
          <a:xfrm>
            <a:off x="7547097" y="4445152"/>
            <a:ext cx="359764" cy="37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D7B47D98-895E-A23F-439C-3830AEF948A5}"/>
              </a:ext>
            </a:extLst>
          </p:cNvPr>
          <p:cNvCxnSpPr>
            <a:cxnSpLocks/>
          </p:cNvCxnSpPr>
          <p:nvPr/>
        </p:nvCxnSpPr>
        <p:spPr>
          <a:xfrm>
            <a:off x="6441830" y="4427073"/>
            <a:ext cx="1567053" cy="39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31C93A8B-8D12-0082-DD8D-0A762183DC0A}"/>
              </a:ext>
            </a:extLst>
          </p:cNvPr>
          <p:cNvSpPr txBox="1"/>
          <p:nvPr/>
        </p:nvSpPr>
        <p:spPr>
          <a:xfrm>
            <a:off x="5131214" y="4281492"/>
            <a:ext cx="648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TEM</a:t>
            </a:r>
          </a:p>
        </p:txBody>
      </p:sp>
    </p:spTree>
    <p:extLst>
      <p:ext uri="{BB962C8B-B14F-4D97-AF65-F5344CB8AC3E}">
        <p14:creationId xmlns:p14="http://schemas.microsoft.com/office/powerpoint/2010/main" val="3706481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BE0D2-F393-332C-B3C6-84C346AD2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UM PARA MUITOS (1:N)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3920A6-6507-7D14-53B9-606641CB7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4533235"/>
          </a:xfrm>
        </p:spPr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dirty="0"/>
              <a:t>Tipo mais comum entre duas tabelas. </a:t>
            </a:r>
            <a:r>
              <a:rPr lang="pt-BR" dirty="0">
                <a:solidFill>
                  <a:srgbClr val="242424"/>
                </a:solidFill>
                <a:highlight>
                  <a:srgbClr val="FFFFFF"/>
                </a:highlight>
                <a:latin typeface="Gotham-Book"/>
              </a:rPr>
              <a:t>S</a:t>
            </a:r>
            <a:r>
              <a:rPr lang="pt-BR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Gotham-Book"/>
              </a:rPr>
              <a:t>ignifica que cada instância de uma entidade se relaciona com muitas instâncias de outra entidade, mas não vice-versa. 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242424"/>
                </a:solidFill>
                <a:highlight>
                  <a:srgbClr val="FFFFFF"/>
                </a:highlight>
                <a:latin typeface="Gotham-Book"/>
              </a:rPr>
              <a:t>Ex.: Curso e Disciplina 1- Curso contem Disciplinas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46D8B02D-0795-A8D7-5455-EFFBACEFE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446577"/>
              </p:ext>
            </p:extLst>
          </p:nvPr>
        </p:nvGraphicFramePr>
        <p:xfrm>
          <a:off x="1535934" y="4435533"/>
          <a:ext cx="2223765" cy="1034184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223765">
                  <a:extLst>
                    <a:ext uri="{9D8B030D-6E8A-4147-A177-3AD203B41FA5}">
                      <a16:colId xmlns:a16="http://schemas.microsoft.com/office/drawing/2014/main" val="2020473813"/>
                    </a:ext>
                  </a:extLst>
                </a:gridCol>
              </a:tblGrid>
              <a:tr h="517092"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Curso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05879"/>
                  </a:ext>
                </a:extLst>
              </a:tr>
              <a:tr h="517092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995718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1A950A6D-B2CC-926A-072C-37F1DB2660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0439309"/>
              </p:ext>
            </p:extLst>
          </p:nvPr>
        </p:nvGraphicFramePr>
        <p:xfrm>
          <a:off x="7046001" y="4456470"/>
          <a:ext cx="2223765" cy="1034184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223765">
                  <a:extLst>
                    <a:ext uri="{9D8B030D-6E8A-4147-A177-3AD203B41FA5}">
                      <a16:colId xmlns:a16="http://schemas.microsoft.com/office/drawing/2014/main" val="2020473813"/>
                    </a:ext>
                  </a:extLst>
                </a:gridCol>
              </a:tblGrid>
              <a:tr h="517092"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Disciplina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05879"/>
                  </a:ext>
                </a:extLst>
              </a:tr>
              <a:tr h="517092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995718"/>
                  </a:ext>
                </a:extLst>
              </a:tr>
            </a:tbl>
          </a:graphicData>
        </a:graphic>
      </p:graphicFrame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938F3012-A0DB-AAB7-C18F-56E11404FD34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3572129" y="4720354"/>
            <a:ext cx="8407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690DA2B2-6CBB-DD19-67ED-028CADDDC40B}"/>
              </a:ext>
            </a:extLst>
          </p:cNvPr>
          <p:cNvSpPr txBox="1"/>
          <p:nvPr/>
        </p:nvSpPr>
        <p:spPr>
          <a:xfrm>
            <a:off x="3713731" y="4655602"/>
            <a:ext cx="231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FFC9479-11B2-C863-B49A-9B6F550E8A42}"/>
              </a:ext>
            </a:extLst>
          </p:cNvPr>
          <p:cNvSpPr txBox="1"/>
          <p:nvPr/>
        </p:nvSpPr>
        <p:spPr>
          <a:xfrm flipH="1" flipV="1">
            <a:off x="6765494" y="4655602"/>
            <a:ext cx="388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13" name="Fluxograma: Decisão 12">
            <a:extLst>
              <a:ext uri="{FF2B5EF4-FFF2-40B4-BE49-F238E27FC236}">
                <a16:creationId xmlns:a16="http://schemas.microsoft.com/office/drawing/2014/main" id="{E2529552-B2B3-0EA0-FCF1-17B525AF7078}"/>
              </a:ext>
            </a:extLst>
          </p:cNvPr>
          <p:cNvSpPr/>
          <p:nvPr/>
        </p:nvSpPr>
        <p:spPr>
          <a:xfrm>
            <a:off x="4412920" y="4107886"/>
            <a:ext cx="1929600" cy="1224936"/>
          </a:xfrm>
          <a:prstGeom prst="flowChartDecis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FA64DD3-2EFA-A5E2-228C-BE054B1A4E6F}"/>
              </a:ext>
            </a:extLst>
          </p:cNvPr>
          <p:cNvSpPr txBox="1"/>
          <p:nvPr/>
        </p:nvSpPr>
        <p:spPr>
          <a:xfrm>
            <a:off x="4811715" y="4470937"/>
            <a:ext cx="1104494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CONTEM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1C033770-A181-6B08-9234-7E680B27B663}"/>
              </a:ext>
            </a:extLst>
          </p:cNvPr>
          <p:cNvCxnSpPr>
            <a:cxnSpLocks/>
          </p:cNvCxnSpPr>
          <p:nvPr/>
        </p:nvCxnSpPr>
        <p:spPr>
          <a:xfrm>
            <a:off x="6345098" y="4704107"/>
            <a:ext cx="8407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566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5EE407-1CAC-834E-7FDC-CEE006D35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MUITOS PARA MUITOS(N:M)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7E21DA-CFA7-5503-D0ED-3CB9E12CC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242424"/>
                </a:solidFill>
                <a:highlight>
                  <a:srgbClr val="FFFFFF"/>
                </a:highlight>
                <a:latin typeface="Gotham-Book"/>
              </a:rPr>
              <a:t>S</a:t>
            </a:r>
            <a:r>
              <a:rPr lang="pt-BR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Gotham-Book"/>
              </a:rPr>
              <a:t>ignifica que muitas instâncias de ambas as entidades se relacionam umas com as outras.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242424"/>
                </a:solidFill>
                <a:highlight>
                  <a:srgbClr val="FFFFFF"/>
                </a:highlight>
                <a:latin typeface="Gotham-Book"/>
              </a:rPr>
              <a:t>Ex.: Jogadores e Times Vários jogadores estão em vários times</a:t>
            </a:r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1C827E68-37EE-AF0E-3274-8C37C14F16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159641"/>
              </p:ext>
            </p:extLst>
          </p:nvPr>
        </p:nvGraphicFramePr>
        <p:xfrm>
          <a:off x="1868515" y="3700874"/>
          <a:ext cx="1505305" cy="90265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505305">
                  <a:extLst>
                    <a:ext uri="{9D8B030D-6E8A-4147-A177-3AD203B41FA5}">
                      <a16:colId xmlns:a16="http://schemas.microsoft.com/office/drawing/2014/main" val="2020473813"/>
                    </a:ext>
                  </a:extLst>
                </a:gridCol>
              </a:tblGrid>
              <a:tr h="451326"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JOGADORES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05879"/>
                  </a:ext>
                </a:extLst>
              </a:tr>
              <a:tr h="4513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995718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52DFEC26-CE73-D1D8-229F-3CBAA20DB5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46296"/>
              </p:ext>
            </p:extLst>
          </p:nvPr>
        </p:nvGraphicFramePr>
        <p:xfrm>
          <a:off x="6944904" y="3700874"/>
          <a:ext cx="2223765" cy="1034184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223765">
                  <a:extLst>
                    <a:ext uri="{9D8B030D-6E8A-4147-A177-3AD203B41FA5}">
                      <a16:colId xmlns:a16="http://schemas.microsoft.com/office/drawing/2014/main" val="2020473813"/>
                    </a:ext>
                  </a:extLst>
                </a:gridCol>
              </a:tblGrid>
              <a:tr h="517092"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Cursos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05879"/>
                  </a:ext>
                </a:extLst>
              </a:tr>
              <a:tr h="517092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995718"/>
                  </a:ext>
                </a:extLst>
              </a:tr>
            </a:tbl>
          </a:graphicData>
        </a:graphic>
      </p:graphicFrame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4170D9AE-C4D0-D94E-C457-1A23ACE30E71}"/>
              </a:ext>
            </a:extLst>
          </p:cNvPr>
          <p:cNvCxnSpPr>
            <a:cxnSpLocks/>
          </p:cNvCxnSpPr>
          <p:nvPr/>
        </p:nvCxnSpPr>
        <p:spPr>
          <a:xfrm flipV="1">
            <a:off x="3373820" y="3940444"/>
            <a:ext cx="1024759" cy="124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D9EB82EA-B737-E4B8-15A6-B643F7769591}"/>
              </a:ext>
            </a:extLst>
          </p:cNvPr>
          <p:cNvSpPr txBox="1"/>
          <p:nvPr/>
        </p:nvSpPr>
        <p:spPr>
          <a:xfrm flipH="1" flipV="1">
            <a:off x="3119712" y="3940444"/>
            <a:ext cx="508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283E634-04A3-9CE7-CD5F-FB4040A14208}"/>
              </a:ext>
            </a:extLst>
          </p:cNvPr>
          <p:cNvSpPr txBox="1"/>
          <p:nvPr/>
        </p:nvSpPr>
        <p:spPr>
          <a:xfrm rot="10800000" flipH="1" flipV="1">
            <a:off x="6613534" y="3940444"/>
            <a:ext cx="307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</a:t>
            </a:r>
          </a:p>
        </p:txBody>
      </p:sp>
      <p:sp>
        <p:nvSpPr>
          <p:cNvPr id="11" name="Fluxograma: Decisão 10">
            <a:extLst>
              <a:ext uri="{FF2B5EF4-FFF2-40B4-BE49-F238E27FC236}">
                <a16:creationId xmlns:a16="http://schemas.microsoft.com/office/drawing/2014/main" id="{6CFA377D-CB81-3139-F5F4-11C42EA468AB}"/>
              </a:ext>
            </a:extLst>
          </p:cNvPr>
          <p:cNvSpPr/>
          <p:nvPr/>
        </p:nvSpPr>
        <p:spPr>
          <a:xfrm>
            <a:off x="4398579" y="3393029"/>
            <a:ext cx="1505305" cy="1034184"/>
          </a:xfrm>
          <a:prstGeom prst="flowChartDecis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8919697-D25D-AB26-58ED-733CBA4D6D9A}"/>
              </a:ext>
            </a:extLst>
          </p:cNvPr>
          <p:cNvSpPr txBox="1"/>
          <p:nvPr/>
        </p:nvSpPr>
        <p:spPr>
          <a:xfrm>
            <a:off x="4663854" y="3725455"/>
            <a:ext cx="1095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ESTÃO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E221458-F9F4-C20C-B283-6852F06DC823}"/>
              </a:ext>
            </a:extLst>
          </p:cNvPr>
          <p:cNvCxnSpPr>
            <a:cxnSpLocks/>
          </p:cNvCxnSpPr>
          <p:nvPr/>
        </p:nvCxnSpPr>
        <p:spPr>
          <a:xfrm flipV="1">
            <a:off x="5903884" y="3903507"/>
            <a:ext cx="1024759" cy="124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0869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3D798A-11AC-0655-6E27-E736349A1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ESTUDO DE CASO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8D9C9C-D619-3E9B-E107-E0556FBD1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4738512"/>
          </a:xfrm>
        </p:spPr>
        <p:txBody>
          <a:bodyPr>
            <a:normAutofit lnSpcReduction="10000"/>
          </a:bodyPr>
          <a:lstStyle/>
          <a:p>
            <a:r>
              <a:rPr lang="pt-BR" altLang="pt-BR" sz="2800" dirty="0"/>
              <a:t>Construir tabelas e fazer os relacionamentos descritos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pt-BR" sz="2200" b="1" dirty="0"/>
              <a:t>Gestão de Contratação:</a:t>
            </a:r>
          </a:p>
          <a:p>
            <a:pPr marL="742950" lvl="2" indent="-342900" eaLnBrk="1" hangingPunct="1">
              <a:defRPr/>
            </a:pPr>
            <a:r>
              <a:rPr lang="pt-BR" sz="2200" dirty="0">
                <a:ea typeface="+mn-ea"/>
              </a:rPr>
              <a:t>Loja: Código, nome, telefone e endereço</a:t>
            </a:r>
          </a:p>
          <a:p>
            <a:pPr marL="742950" lvl="2" indent="-342900" eaLnBrk="1" hangingPunct="1">
              <a:defRPr/>
            </a:pPr>
            <a:r>
              <a:rPr lang="pt-BR" sz="2200" dirty="0">
                <a:ea typeface="+mn-ea"/>
              </a:rPr>
              <a:t>Funcionário: Código, nome, telefone e data da admissão</a:t>
            </a:r>
          </a:p>
          <a:p>
            <a:pPr marL="1200150" lvl="3" indent="-342900" eaLnBrk="1" hangingPunct="1">
              <a:defRPr/>
            </a:pPr>
            <a:r>
              <a:rPr lang="pt-BR" sz="2200" dirty="0">
                <a:ea typeface="+mn-ea"/>
              </a:rPr>
              <a:t>Relacionamento: Vários funcionários trabalham em várias lojas</a:t>
            </a:r>
          </a:p>
          <a:p>
            <a:pPr marL="342900" lvl="1" indent="-342900" eaLnBrk="1" hangingPunct="1">
              <a:buFontTx/>
              <a:buChar char="•"/>
              <a:defRPr/>
            </a:pPr>
            <a:r>
              <a:rPr lang="pt-BR" sz="2200" b="1" dirty="0"/>
              <a:t>Gestão de Vendas:</a:t>
            </a:r>
          </a:p>
          <a:p>
            <a:pPr marL="742950" lvl="2" indent="-342900" eaLnBrk="1" hangingPunct="1">
              <a:defRPr/>
            </a:pPr>
            <a:r>
              <a:rPr lang="pt-BR" sz="2200" dirty="0">
                <a:ea typeface="+mn-ea"/>
              </a:rPr>
              <a:t>Funcionário: Código, nome, telefone e data de admissão</a:t>
            </a:r>
          </a:p>
          <a:p>
            <a:pPr marL="742950" lvl="2" indent="-342900" eaLnBrk="1" hangingPunct="1">
              <a:defRPr/>
            </a:pPr>
            <a:r>
              <a:rPr lang="pt-BR" sz="2200" dirty="0">
                <a:ea typeface="+mn-ea"/>
              </a:rPr>
              <a:t>Produto: Código, descrição e desconto</a:t>
            </a:r>
          </a:p>
          <a:p>
            <a:pPr marL="1200150" lvl="3" indent="-342900" eaLnBrk="1" hangingPunct="1">
              <a:defRPr/>
            </a:pPr>
            <a:r>
              <a:rPr lang="pt-BR" sz="2200" dirty="0">
                <a:ea typeface="+mn-ea"/>
              </a:rPr>
              <a:t>Relacionamento: Um funcionário vende vários produtos.</a:t>
            </a:r>
          </a:p>
          <a:p>
            <a:pPr marL="342900" lvl="1" indent="-342900" eaLnBrk="1" hangingPunct="1">
              <a:buFontTx/>
              <a:buChar char="•"/>
              <a:defRPr/>
            </a:pPr>
            <a:r>
              <a:rPr lang="pt-BR" sz="2200" dirty="0">
                <a:ea typeface="+mn-ea"/>
              </a:rPr>
              <a:t>Gestão de Gerência:</a:t>
            </a:r>
          </a:p>
          <a:p>
            <a:pPr marL="742950" lvl="2" indent="-342900" eaLnBrk="1" hangingPunct="1">
              <a:defRPr/>
            </a:pPr>
            <a:r>
              <a:rPr lang="pt-BR" sz="2200" dirty="0">
                <a:ea typeface="+mn-ea"/>
              </a:rPr>
              <a:t>Empresa: Código, nome, endereço, telefone</a:t>
            </a:r>
          </a:p>
          <a:p>
            <a:pPr marL="742950" lvl="2" indent="-342900" eaLnBrk="1" hangingPunct="1">
              <a:defRPr/>
            </a:pPr>
            <a:r>
              <a:rPr lang="pt-BR" sz="2200" dirty="0"/>
              <a:t>Gerente</a:t>
            </a:r>
            <a:r>
              <a:rPr lang="pt-BR" sz="2200" dirty="0">
                <a:ea typeface="+mn-ea"/>
              </a:rPr>
              <a:t>: CPF, nome, endereço, telefone</a:t>
            </a:r>
          </a:p>
          <a:p>
            <a:pPr marL="1200150" lvl="3" indent="-342900" eaLnBrk="1" hangingPunct="1">
              <a:defRPr/>
            </a:pPr>
            <a:r>
              <a:rPr lang="pt-BR" sz="2200" dirty="0">
                <a:ea typeface="+mn-ea"/>
              </a:rPr>
              <a:t>Relacionamento: Uma empresa possui </a:t>
            </a:r>
            <a:r>
              <a:rPr lang="pt-BR" sz="2200">
                <a:ea typeface="+mn-ea"/>
              </a:rPr>
              <a:t>um gerente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85845251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3135269_TF45331398_Win32" id="{3328EF41-B506-4E00-9D52-63C1C58F8F8A}" vid="{23365FC3-F6F7-46B3-8D20-6B432682BE5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{64486044-69BB-4023-B5CB-AB9A6DE91E76}tf45331398_win32</Template>
  <TotalTime>11572</TotalTime>
  <Words>501</Words>
  <Application>Microsoft Office PowerPoint</Application>
  <PresentationFormat>Widescreen</PresentationFormat>
  <Paragraphs>67</Paragraphs>
  <Slides>9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Arial</vt:lpstr>
      <vt:lpstr>Calibri</vt:lpstr>
      <vt:lpstr>Gotham-Book</vt:lpstr>
      <vt:lpstr>source-serif-pro</vt:lpstr>
      <vt:lpstr>Tenorite</vt:lpstr>
      <vt:lpstr>Personalizado</vt:lpstr>
      <vt:lpstr>RELACIONAMENTO ENTRE TABELAS</vt:lpstr>
      <vt:lpstr>A EXISTÊNCIA</vt:lpstr>
      <vt:lpstr>CONTEXTO DE BANCO DE DADOS </vt:lpstr>
      <vt:lpstr>ESTUDO DE CASO DE LIVRARIA</vt:lpstr>
      <vt:lpstr>TIPOS DE RELACIONAMENTOS DE CARDINALIDADE</vt:lpstr>
      <vt:lpstr>UM PARA UM (1:1)</vt:lpstr>
      <vt:lpstr>UM PARA MUITOS (1:N)</vt:lpstr>
      <vt:lpstr>MUITOS PARA MUITOS(N:M)</vt:lpstr>
      <vt:lpstr>ESTUDO DE CASO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prof.renatagomesdf@gmail.com</dc:creator>
  <cp:lastModifiedBy>prof.renatagomesdf@gmail.com</cp:lastModifiedBy>
  <cp:revision>5</cp:revision>
  <dcterms:created xsi:type="dcterms:W3CDTF">2024-08-05T16:56:26Z</dcterms:created>
  <dcterms:modified xsi:type="dcterms:W3CDTF">2024-08-13T17:48:46Z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