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DA684-6881-F36D-CF95-A7F891E468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1CC172-A02F-08A4-7F2D-B11B06D3A9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RENATA GOMES</a:t>
            </a:r>
          </a:p>
        </p:txBody>
      </p:sp>
    </p:spTree>
    <p:extLst>
      <p:ext uri="{BB962C8B-B14F-4D97-AF65-F5344CB8AC3E}">
        <p14:creationId xmlns:p14="http://schemas.microsoft.com/office/powerpoint/2010/main" val="196492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65A2C-3BA7-C3CC-2F3D-552A5EB9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1" y="697839"/>
            <a:ext cx="9603275" cy="1049235"/>
          </a:xfrm>
        </p:spPr>
        <p:txBody>
          <a:bodyPr/>
          <a:lstStyle/>
          <a:p>
            <a:r>
              <a:rPr lang="pt-BR" dirty="0"/>
              <a:t>O 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16E3EF-5A81-4707-0A82-67989AF4F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694" y="1853754"/>
            <a:ext cx="11662611" cy="4529447"/>
          </a:xfrm>
        </p:spPr>
        <p:txBody>
          <a:bodyPr>
            <a:noAutofit/>
          </a:bodyPr>
          <a:lstStyle/>
          <a:p>
            <a:pPr algn="just"/>
            <a:r>
              <a:rPr lang="pt-BR" sz="2200" dirty="0"/>
              <a:t>O modelo relacional tem 3 aspectos:</a:t>
            </a:r>
          </a:p>
          <a:p>
            <a:pPr lvl="1" algn="just"/>
            <a:r>
              <a:rPr lang="pt-BR" sz="2200" dirty="0"/>
              <a:t>Estruturas: são bem definidas (tabelas, visões, índices...) que armazenam ou acessam dados de um Banco de Dados.  As estruturas e os dados contidos dentro delas podem ser manipulados pelas operações.</a:t>
            </a:r>
          </a:p>
          <a:p>
            <a:pPr lvl="1" algn="just"/>
            <a:r>
              <a:rPr lang="pt-BR" sz="2200" dirty="0"/>
              <a:t>Operações:  As operações são ações definidas que permitem aos usuários manipular os dados e as estruturas de um banco de dados. Elas devem obedecer a um conjunto predefinido de regras de integridade.</a:t>
            </a:r>
          </a:p>
          <a:p>
            <a:pPr lvl="1" algn="just"/>
            <a:r>
              <a:rPr lang="pt-BR" sz="2200" dirty="0"/>
              <a:t>Regras de integridade:  As regras de integridade são as leis que governam as operações permitidas nos dados e nas estruturas de um banco de dados.  Elas protegem os dados e as estruturas de um bando de dados, garantindo integridade e segurança à estrutura.</a:t>
            </a:r>
          </a:p>
        </p:txBody>
      </p:sp>
    </p:spTree>
    <p:extLst>
      <p:ext uri="{BB962C8B-B14F-4D97-AF65-F5344CB8AC3E}">
        <p14:creationId xmlns:p14="http://schemas.microsoft.com/office/powerpoint/2010/main" val="845170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4E31F-AB65-91FB-3B61-27FC0FB6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 DOS  BANCOS DE DADOS RELACIONAIS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F1BDDB-7DD2-E22A-C70F-DF57D5D10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500" dirty="0"/>
              <a:t>Independência do armazenamento físico de dados e da estrutura lógica do banco de dados</a:t>
            </a:r>
          </a:p>
          <a:p>
            <a:pPr algn="just"/>
            <a:r>
              <a:rPr lang="pt-BR" sz="2500" dirty="0"/>
              <a:t>Acesso diversificado e fácil a todos os dados</a:t>
            </a:r>
          </a:p>
          <a:p>
            <a:pPr algn="just"/>
            <a:r>
              <a:rPr lang="pt-BR" sz="2500" dirty="0"/>
              <a:t>Flexibilidade completa no projeto de banco de dados</a:t>
            </a:r>
          </a:p>
          <a:p>
            <a:pPr algn="just"/>
            <a:r>
              <a:rPr lang="pt-BR" sz="2500" dirty="0"/>
              <a:t>Armazenamento reduzido de dados e redundância.</a:t>
            </a:r>
          </a:p>
        </p:txBody>
      </p:sp>
    </p:spTree>
    <p:extLst>
      <p:ext uri="{BB962C8B-B14F-4D97-AF65-F5344CB8AC3E}">
        <p14:creationId xmlns:p14="http://schemas.microsoft.com/office/powerpoint/2010/main" val="863499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285FA-2B50-C6E6-E376-8E5BC355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 do 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B2AD02-24D1-D843-3D3A-1CE89CD3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06232" cy="3887763"/>
          </a:xfrm>
        </p:spPr>
        <p:txBody>
          <a:bodyPr>
            <a:noAutofit/>
          </a:bodyPr>
          <a:lstStyle/>
          <a:p>
            <a:pPr algn="just"/>
            <a:r>
              <a:rPr lang="pt-BR" sz="2200" dirty="0"/>
              <a:t>O modelo relacional de objeto permite que os usuários definam os tipos de objetos, especificando tanto a estrutura quantos os métodos de operação de dados e o uso desses </a:t>
            </a:r>
            <a:r>
              <a:rPr lang="pt-BR" sz="2200" dirty="0" err="1"/>
              <a:t>datatype</a:t>
            </a:r>
            <a:r>
              <a:rPr lang="pt-BR" sz="2200" dirty="0"/>
              <a:t> dentro do modelo relacional.</a:t>
            </a:r>
          </a:p>
          <a:p>
            <a:pPr algn="just"/>
            <a:r>
              <a:rPr lang="pt-BR" sz="2200" dirty="0"/>
              <a:t>Os tipos de objetos são abstrações das entidades do mundo real. Eles tem 3 tipos de componentes:</a:t>
            </a:r>
          </a:p>
          <a:p>
            <a:pPr lvl="1" algn="just"/>
            <a:r>
              <a:rPr lang="pt-BR" sz="2200" dirty="0"/>
              <a:t>Um nome</a:t>
            </a:r>
          </a:p>
          <a:p>
            <a:pPr lvl="1" algn="just"/>
            <a:r>
              <a:rPr lang="pt-BR" sz="2200" dirty="0"/>
              <a:t>Os atributos</a:t>
            </a:r>
          </a:p>
          <a:p>
            <a:pPr lvl="1" algn="just"/>
            <a:r>
              <a:rPr lang="pt-BR" sz="2200" dirty="0"/>
              <a:t>Os métodos</a:t>
            </a:r>
          </a:p>
        </p:txBody>
      </p:sp>
    </p:spTree>
    <p:extLst>
      <p:ext uri="{BB962C8B-B14F-4D97-AF65-F5344CB8AC3E}">
        <p14:creationId xmlns:p14="http://schemas.microsoft.com/office/powerpoint/2010/main" val="1588729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06B9D-9941-FC47-226E-65B6B462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59F5EE-E0C6-518B-D859-D9DFA892B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300" dirty="0"/>
              <a:t>Toda a informação de um banco de dados relacional é armazenada em TABELAS. Entidade é um conjunto de REGISTROS.</a:t>
            </a:r>
          </a:p>
          <a:p>
            <a:pPr lvl="1" algn="just"/>
            <a:r>
              <a:rPr lang="pt-BR" sz="2300" dirty="0"/>
              <a:t>Ex.: Cliente, Endereço</a:t>
            </a:r>
          </a:p>
        </p:txBody>
      </p:sp>
    </p:spTree>
    <p:extLst>
      <p:ext uri="{BB962C8B-B14F-4D97-AF65-F5344CB8AC3E}">
        <p14:creationId xmlns:p14="http://schemas.microsoft.com/office/powerpoint/2010/main" val="210633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F70CD-8684-AB10-9164-B7479B524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1" y="804519"/>
            <a:ext cx="9728974" cy="1049235"/>
          </a:xfrm>
        </p:spPr>
        <p:txBody>
          <a:bodyPr/>
          <a:lstStyle/>
          <a:p>
            <a:r>
              <a:rPr lang="pt-BR" dirty="0"/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4C7DD0-BBEA-8CB3-34F2-FDAF5E323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/>
          </a:bodyPr>
          <a:lstStyle/>
          <a:p>
            <a:pPr algn="just"/>
            <a:r>
              <a:rPr lang="pt-BR" sz="2300" dirty="0"/>
              <a:t>São as diversas características de uma ENTIDADE. Características individuais da tabela.</a:t>
            </a:r>
          </a:p>
          <a:p>
            <a:pPr lvl="1" algn="just"/>
            <a:r>
              <a:rPr lang="pt-BR" sz="2300" dirty="0"/>
              <a:t>Ex. Nome, RG, CPF, Rua, Bairro, Telefone, CEP, Data de Nascimento.</a:t>
            </a:r>
          </a:p>
        </p:txBody>
      </p:sp>
    </p:spTree>
    <p:extLst>
      <p:ext uri="{BB962C8B-B14F-4D97-AF65-F5344CB8AC3E}">
        <p14:creationId xmlns:p14="http://schemas.microsoft.com/office/powerpoint/2010/main" val="308000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6A9C6-F629-543F-C683-5DFE750C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tabela com entidade e atributo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9ACD9C2-F941-E8D3-EA95-85A522028C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417117"/>
              </p:ext>
            </p:extLst>
          </p:nvPr>
        </p:nvGraphicFramePr>
        <p:xfrm>
          <a:off x="4274386" y="2032167"/>
          <a:ext cx="2655804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55804">
                  <a:extLst>
                    <a:ext uri="{9D8B030D-6E8A-4147-A177-3AD203B41FA5}">
                      <a16:colId xmlns:a16="http://schemas.microsoft.com/office/drawing/2014/main" val="1639270233"/>
                    </a:ext>
                  </a:extLst>
                </a:gridCol>
              </a:tblGrid>
              <a:tr h="374104">
                <a:tc>
                  <a:txBody>
                    <a:bodyPr/>
                    <a:lstStyle/>
                    <a:p>
                      <a:r>
                        <a:rPr lang="pt-BR" sz="2200" dirty="0">
                          <a:solidFill>
                            <a:schemeClr val="tx1"/>
                          </a:solidFill>
                        </a:rPr>
                        <a:t>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925281"/>
                  </a:ext>
                </a:extLst>
              </a:tr>
              <a:tr h="1475918">
                <a:tc>
                  <a:txBody>
                    <a:bodyPr/>
                    <a:lstStyle/>
                    <a:p>
                      <a:r>
                        <a:rPr lang="pt-BR" sz="2200" dirty="0" err="1"/>
                        <a:t>CodCliente</a:t>
                      </a:r>
                      <a:endParaRPr lang="pt-BR" sz="2200" dirty="0"/>
                    </a:p>
                    <a:p>
                      <a:r>
                        <a:rPr lang="pt-BR" sz="2200" dirty="0"/>
                        <a:t>Nome da empresa</a:t>
                      </a:r>
                    </a:p>
                    <a:p>
                      <a:r>
                        <a:rPr lang="pt-BR" sz="2200" dirty="0"/>
                        <a:t>Nome do contato</a:t>
                      </a:r>
                    </a:p>
                    <a:p>
                      <a:r>
                        <a:rPr lang="pt-BR" sz="2200" dirty="0"/>
                        <a:t>Cargo do contato</a:t>
                      </a:r>
                    </a:p>
                    <a:p>
                      <a:r>
                        <a:rPr lang="pt-BR" sz="2200" dirty="0"/>
                        <a:t>Endereço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550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56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A62EA-4A98-D22C-2F83-B8846403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 primária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E0BE5A-6A85-47E8-4BE4-AC2574B76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300" dirty="0"/>
              <a:t>É o campo que identifica de maneira ÚNICA cada registro de uma tabela.</a:t>
            </a:r>
          </a:p>
          <a:p>
            <a:pPr algn="just"/>
            <a:r>
              <a:rPr lang="pt-BR" sz="2300" dirty="0"/>
              <a:t>Esses valores precisam ser únicos.</a:t>
            </a:r>
          </a:p>
          <a:p>
            <a:pPr marL="457200" lvl="1" indent="0" algn="just">
              <a:buNone/>
            </a:pPr>
            <a:r>
              <a:rPr lang="pt-BR" sz="2300" dirty="0"/>
              <a:t>Ex.: CPF, CNPJ, Matrícula do Aluno, Código de peça.</a:t>
            </a:r>
          </a:p>
        </p:txBody>
      </p:sp>
    </p:spTree>
    <p:extLst>
      <p:ext uri="{BB962C8B-B14F-4D97-AF65-F5344CB8AC3E}">
        <p14:creationId xmlns:p14="http://schemas.microsoft.com/office/powerpoint/2010/main" val="305366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57D90-47EB-117B-EA78-FE400A4B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chave primária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32DA80C-3A88-D202-F5A5-41BA5E03C1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741470"/>
              </p:ext>
            </p:extLst>
          </p:nvPr>
        </p:nvGraphicFramePr>
        <p:xfrm>
          <a:off x="1868068" y="2149740"/>
          <a:ext cx="3602289" cy="232745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602289">
                  <a:extLst>
                    <a:ext uri="{9D8B030D-6E8A-4147-A177-3AD203B41FA5}">
                      <a16:colId xmlns:a16="http://schemas.microsoft.com/office/drawing/2014/main" val="628584172"/>
                    </a:ext>
                  </a:extLst>
                </a:gridCol>
              </a:tblGrid>
              <a:tr h="453129">
                <a:tc>
                  <a:txBody>
                    <a:bodyPr/>
                    <a:lstStyle/>
                    <a:p>
                      <a:r>
                        <a:rPr lang="pt-BR" sz="2500" dirty="0">
                          <a:solidFill>
                            <a:schemeClr val="tx1"/>
                          </a:solidFill>
                        </a:rPr>
                        <a:t>Cliente</a:t>
                      </a:r>
                    </a:p>
                  </a:txBody>
                  <a:tcPr marT="60853" marB="60853"/>
                </a:tc>
                <a:extLst>
                  <a:ext uri="{0D108BD9-81ED-4DB2-BD59-A6C34878D82A}">
                    <a16:rowId xmlns:a16="http://schemas.microsoft.com/office/drawing/2014/main" val="579484547"/>
                  </a:ext>
                </a:extLst>
              </a:tr>
              <a:tr h="1824753">
                <a:tc>
                  <a:txBody>
                    <a:bodyPr/>
                    <a:lstStyle/>
                    <a:p>
                      <a:r>
                        <a:rPr lang="pt-BR" sz="2500" b="1" dirty="0"/>
                        <a:t>Código do Cliente PK</a:t>
                      </a:r>
                    </a:p>
                    <a:p>
                      <a:r>
                        <a:rPr lang="pt-BR" sz="2500" dirty="0"/>
                        <a:t>Nome da empresa</a:t>
                      </a:r>
                    </a:p>
                    <a:p>
                      <a:r>
                        <a:rPr lang="pt-BR" sz="2500" dirty="0"/>
                        <a:t>Nome do Contato</a:t>
                      </a:r>
                    </a:p>
                    <a:p>
                      <a:r>
                        <a:rPr lang="pt-BR" sz="2500" dirty="0"/>
                        <a:t>Endereço</a:t>
                      </a:r>
                    </a:p>
                  </a:txBody>
                  <a:tcPr marT="60853" marB="60853"/>
                </a:tc>
                <a:extLst>
                  <a:ext uri="{0D108BD9-81ED-4DB2-BD59-A6C34878D82A}">
                    <a16:rowId xmlns:a16="http://schemas.microsoft.com/office/drawing/2014/main" val="316144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611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DC0CF-BA5E-A6EE-19F4-9410E3A2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Observações da chave primária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B03BC5-6F2D-2837-EDD8-E31592577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275200" cy="3582963"/>
          </a:xfrm>
        </p:spPr>
        <p:txBody>
          <a:bodyPr/>
          <a:lstStyle/>
          <a:p>
            <a:pPr algn="just"/>
            <a:r>
              <a:rPr lang="pt-BR" sz="2300" dirty="0"/>
              <a:t>Após ser definida a chave primária o próprio banco garante que não sejam inseridos dados duplicados.</a:t>
            </a:r>
          </a:p>
          <a:p>
            <a:pPr algn="just"/>
            <a:r>
              <a:rPr lang="pt-BR" sz="2300" dirty="0"/>
              <a:t>Também pode ser formada pela combinação de MAIS DE UM CAMPO no caso de um único campo não ser capaz de aturar como CHAVE PRIMÁRIA.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258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0A37A-3D7B-1096-2CB5-DC701EE9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 ESTRANGEIRA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5FE872-8537-449D-BAAD-50952D78C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300" dirty="0"/>
              <a:t>É um atributo ou conjunto de atributos cujos valores aparecem necessariamente na chave primária de uma tabela. </a:t>
            </a:r>
          </a:p>
          <a:p>
            <a:pPr lvl="1" algn="just"/>
            <a:r>
              <a:rPr lang="pt-BR" sz="2300" dirty="0"/>
              <a:t>Ex.: Departamento (Código departamento, Nome departamento)</a:t>
            </a:r>
          </a:p>
          <a:p>
            <a:pPr marL="914400" lvl="2" indent="0" algn="just">
              <a:buNone/>
            </a:pPr>
            <a:r>
              <a:rPr lang="pt-BR" sz="2300" dirty="0"/>
              <a:t>   Empregado (Código Empregado, Nome empregado, Código departamento, Categoria Funcionário)</a:t>
            </a: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14367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1C20A-8F6B-B4A3-E41C-4B133DBB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Chave estrangeira - restrições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C6748B-C377-DFAB-F1F1-85269F3B8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86442" cy="380755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Inclusão de um registro na tabela que contém a Chave estrangeira</a:t>
            </a:r>
          </a:p>
          <a:p>
            <a:pPr lvl="1" algn="just"/>
            <a:r>
              <a:rPr lang="pt-BR" sz="2000" dirty="0"/>
              <a:t>Deve ser garantido que o valor da chave estrangeira apareça na coluna da chave primária referenciada.</a:t>
            </a:r>
          </a:p>
          <a:p>
            <a:pPr algn="just"/>
            <a:r>
              <a:rPr lang="pt-BR" dirty="0"/>
              <a:t>Alteração do valor da chave estrangeira</a:t>
            </a:r>
          </a:p>
          <a:p>
            <a:pPr lvl="1" algn="just"/>
            <a:r>
              <a:rPr lang="pt-BR" sz="2000" dirty="0"/>
              <a:t>Deve ser garantido que o novo valor da chave estrangeira apareça na coluna da chave primária referenciada.</a:t>
            </a:r>
          </a:p>
          <a:p>
            <a:pPr algn="just"/>
            <a:r>
              <a:rPr lang="pt-BR" dirty="0"/>
              <a:t>Exclusão de um registro da tabela que contém a Chave Primária referenciada pela Chave Estrangeira</a:t>
            </a:r>
          </a:p>
          <a:p>
            <a:pPr lvl="1" algn="just"/>
            <a:r>
              <a:rPr lang="pt-BR" sz="2000" dirty="0"/>
              <a:t>Deve ser garantido que na coluna chave estrangeira não apareça o valor da chave primária que está sendo excluída.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848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08B4C-EB0E-C817-1E87-C68591EB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8A76B-66EC-E37D-8ADD-0FCE1DC1E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300" dirty="0"/>
              <a:t>Criar 3 tabelas para:</a:t>
            </a:r>
          </a:p>
          <a:p>
            <a:pPr lvl="1" algn="just"/>
            <a:r>
              <a:rPr lang="pt-BR" sz="2300" dirty="0"/>
              <a:t>ESCOLA</a:t>
            </a:r>
          </a:p>
          <a:p>
            <a:pPr lvl="1" algn="just"/>
            <a:r>
              <a:rPr lang="pt-BR" sz="2300" dirty="0"/>
              <a:t>HOSPITAL</a:t>
            </a:r>
          </a:p>
          <a:p>
            <a:pPr lvl="1" algn="just"/>
            <a:r>
              <a:rPr lang="pt-BR" sz="2300" dirty="0"/>
              <a:t> RESTAURANTE</a:t>
            </a:r>
          </a:p>
          <a:p>
            <a:pPr lvl="1" algn="just"/>
            <a:endParaRPr lang="pt-BR" sz="2300" dirty="0"/>
          </a:p>
          <a:p>
            <a:pPr lvl="2" algn="just"/>
            <a:r>
              <a:rPr lang="pt-BR" sz="2300" dirty="0"/>
              <a:t>Obs.: no mínimo 5 atributos e definir as chaves primárias na frente do atributo como PK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3771499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846</TotalTime>
  <Words>586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Galeria</vt:lpstr>
      <vt:lpstr>MODELO RELACIONAL</vt:lpstr>
      <vt:lpstr>O MODELO RELACIONAL</vt:lpstr>
      <vt:lpstr>Benefícios DOS  BANCOS DE DADOS RELACIONAIS</vt:lpstr>
      <vt:lpstr>Objeto do modelo relacional</vt:lpstr>
      <vt:lpstr>entidade</vt:lpstr>
      <vt:lpstr>atributos</vt:lpstr>
      <vt:lpstr>Exemplo de tabela com entidade e atributo</vt:lpstr>
      <vt:lpstr>Chave primária</vt:lpstr>
      <vt:lpstr>Exemplo de chave primária</vt:lpstr>
      <vt:lpstr>Observações da chave primária</vt:lpstr>
      <vt:lpstr>CHAVE ESTRANGEIRA</vt:lpstr>
      <vt:lpstr>Chave estrangeira - restrições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RELACIONAL</dc:title>
  <dc:creator>prof.renatagomesdf@gmail.com</dc:creator>
  <cp:lastModifiedBy>prof.renatagomesdf@gmail.com</cp:lastModifiedBy>
  <cp:revision>11</cp:revision>
  <dcterms:created xsi:type="dcterms:W3CDTF">2024-08-05T13:31:05Z</dcterms:created>
  <dcterms:modified xsi:type="dcterms:W3CDTF">2026-08-10T23:16:28Z</dcterms:modified>
</cp:coreProperties>
</file>